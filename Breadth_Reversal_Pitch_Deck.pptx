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2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rts/chart3.xml" ContentType="application/vnd.openxmlformats-officedocument.drawingml.chart+xml"/>
  <Override PartName="/ppt/notesSlides/notesSlide12.xml" ContentType="application/vnd.openxmlformats-officedocument.presentationml.notesSlide+xml"/>
  <Override PartName="/ppt/charts/chart4.xml" ContentType="application/vnd.openxmlformats-officedocument.drawingml.chart+xml"/>
  <Override PartName="/ppt/notesSlides/notesSlide13.xml" ContentType="application/vnd.openxmlformats-officedocument.presentationml.notesSlide+xml"/>
  <Override PartName="/ppt/charts/chart5.xml" ContentType="application/vnd.openxmlformats-officedocument.drawingml.chart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rts/chart6.xml" ContentType="application/vnd.openxmlformats-officedocument.drawingml.chart+xml"/>
  <Override PartName="/ppt/notesSlides/notesSlide16.xml" ContentType="application/vnd.openxmlformats-officedocument.presentationml.notesSlide+xml"/>
  <Override PartName="/ppt/charts/chart7.xml" ContentType="application/vnd.openxmlformats-officedocument.drawingml.chart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75" r:id="rId26"/>
    <p:sldId id="268" r:id="rId14"/>
    <p:sldId id="276" r:id="rId27"/>
    <p:sldId id="269" r:id="rId15"/>
    <p:sldId id="270" r:id="rId16"/>
    <p:sldId id="271" r:id="rId17"/>
    <p:sldId id="272" r:id="rId18"/>
    <p:sldId id="273" r:id="rId19"/>
    <p:sldId id="274" r:id="rId2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702"/>
    <p:restoredTop sz="94610"/>
  </p:normalViewPr>
  <p:slideViewPr>
    <p:cSldViewPr snapToGrid="0" snapToObjects="1">
      <p:cViewPr varScale="1">
        <p:scale>
          <a:sx n="170" d="100"/>
          <a:sy n="170" d="100"/>
        </p:scale>
        <p:origin x="56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charts/_rels/chart1.xml.rels><?xml version="1.0" encoding="UTF-8"?>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1A2744"/>
                </a:solidFill>
                <a:latin typeface="Calibri"/>
              </a:defRPr>
            </a:pPr>
            <a:r>
              <a:rPr lang="en-HK" sz="1000" b="0" i="0" u="none" strike="noStrike">
                <a:solidFill>
                  <a:srgbClr val="1A2744"/>
                </a:solidFill>
                <a:latin typeface="Calibri"/>
              </a:rPr>
              <a:t>Mean Next-Day ES Return by Bucket (%)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Mean Next-Day Return (%)</c:v>
                </c:pt>
              </c:strCache>
            </c:strRef>
          </c:tx>
          <c:spPr>
            <a:solidFill>
              <a:srgbClr val="1E2E52">
                <a:alpha val="100000"/>
              </a:srgbClr>
            </a:solidFill>
            <a:effectLst/>
          </c:spPr>
          <c:invertIfNegative val="0"/>
          <c:dLbls>
            <c:numFmt formatCode="0.0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1A2744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0-10</c:v>
                </c:pt>
                <c:pt idx="1">
                  <c:v>10-20</c:v>
                </c:pt>
                <c:pt idx="2">
                  <c:v>20-30</c:v>
                </c:pt>
                <c:pt idx="3">
                  <c:v>30-40</c:v>
                </c:pt>
                <c:pt idx="4">
                  <c:v>40-50</c:v>
                </c:pt>
                <c:pt idx="5">
                  <c:v>50-60</c:v>
                </c:pt>
                <c:pt idx="6">
                  <c:v>60-70</c:v>
                </c:pt>
                <c:pt idx="7">
                  <c:v>70-80</c:v>
                </c:pt>
                <c:pt idx="8">
                  <c:v>80-90</c:v>
                </c:pt>
                <c:pt idx="9">
                  <c:v>90-100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0.17</c:v>
                </c:pt>
                <c:pt idx="1">
                  <c:v>-0.06</c:v>
                </c:pt>
                <c:pt idx="2">
                  <c:v>-0.01</c:v>
                </c:pt>
                <c:pt idx="3">
                  <c:v>0.05</c:v>
                </c:pt>
                <c:pt idx="4">
                  <c:v>0.13</c:v>
                </c:pt>
                <c:pt idx="5">
                  <c:v>0.03</c:v>
                </c:pt>
                <c:pt idx="6">
                  <c:v>0.03</c:v>
                </c:pt>
                <c:pt idx="7">
                  <c:v>0.08</c:v>
                </c:pt>
                <c:pt idx="8">
                  <c:v>-0.03</c:v>
                </c:pt>
                <c:pt idx="9">
                  <c:v>7.0000000000000007E-2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DE5-AA4B-9D19-FA0ECB748B4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900" b="0" i="0" u="none" strike="noStrike">
                    <a:solidFill>
                      <a:srgbClr val="6B6B6B"/>
                    </a:solidFill>
                    <a:latin typeface="Calibri"/>
                  </a:defRPr>
                </a:pPr>
                <a:r>
                  <a:rPr lang="en-HK" sz="900" b="0" i="0" u="none" strike="noStrike">
                    <a:solidFill>
                      <a:srgbClr val="6B6B6B"/>
                    </a:solidFill>
                    <a:latin typeface="Calibri"/>
                  </a:rPr>
                  <a:t>Breadth-Momentum Percentile Bucket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2C3A5A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25"/>
          <c:min val="-0.15"/>
        </c:scaling>
        <c:delete val="0"/>
        <c:axPos val="l"/>
        <c:majorGridlines>
          <c:spPr>
            <a:ln w="6350" cap="flat">
              <a:solidFill>
                <a:srgbClr val="E5DCC2"/>
              </a:solidFill>
              <a:prstDash val="solid"/>
              <a:round/>
            </a:ln>
          </c:spPr>
        </c:majorGridlines>
        <c:numFmt formatCode="0.0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B6B6B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AF5E8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FAF5E8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Strategy (13.9% exposure)</c:v>
                </c:pt>
              </c:strCache>
            </c:strRef>
          </c:tx>
          <c:spPr>
            <a:ln w="25400" cap="flat">
              <a:solidFill>
                <a:srgbClr val="C9A961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C9A961"/>
              </a:solidFill>
              <a:ln w="9525" cap="flat">
                <a:solidFill>
                  <a:srgbClr val="C9A961"/>
                </a:solidFill>
                <a:prstDash val="solid"/>
                <a:round/>
              </a:ln>
              <a:effectLst/>
            </c:spPr>
          </c:marker>
          <c:cat>
            <c:strRef>
              <c:f>Sheet1!$A$2:$A$194</c:f>
              <c:strCache>
                <c:ptCount val="193"/>
                <c:pt idx="0">
                  <c:v>2010</c:v>
                </c:pt>
                <c:pt idx="12">
                  <c:v>2011</c:v>
                </c:pt>
                <c:pt idx="24">
                  <c:v>2012</c:v>
                </c:pt>
                <c:pt idx="36">
                  <c:v>2013</c:v>
                </c:pt>
                <c:pt idx="48">
                  <c:v>2014</c:v>
                </c:pt>
                <c:pt idx="60">
                  <c:v>2015</c:v>
                </c:pt>
                <c:pt idx="72">
                  <c:v>2016</c:v>
                </c:pt>
                <c:pt idx="84">
                  <c:v>2017</c:v>
                </c:pt>
                <c:pt idx="96">
                  <c:v>2018</c:v>
                </c:pt>
                <c:pt idx="108">
                  <c:v>2019</c:v>
                </c:pt>
                <c:pt idx="120">
                  <c:v>2020</c:v>
                </c:pt>
                <c:pt idx="132">
                  <c:v>2021</c:v>
                </c:pt>
                <c:pt idx="144">
                  <c:v>2022</c:v>
                </c:pt>
                <c:pt idx="156">
                  <c:v>2023</c:v>
                </c:pt>
                <c:pt idx="168">
                  <c:v>2024</c:v>
                </c:pt>
                <c:pt idx="180">
                  <c:v>2025</c:v>
                </c:pt>
                <c:pt idx="192">
                  <c:v>2026</c:v>
                </c:pt>
              </c:strCache>
            </c:strRef>
          </c:cat>
          <c:val>
            <c:numRef>
              <c:f>Sheet1!$B$2:$B$194</c:f>
              <c:numCache>
                <c:formatCode>General</c:formatCode>
                <c:ptCount val="193"/>
                <c:pt idx="0">
                  <c:v>1</c:v>
                </c:pt>
                <c:pt idx="1">
                  <c:v>1.01</c:v>
                </c:pt>
                <c:pt idx="2">
                  <c:v>1.02</c:v>
                </c:pt>
                <c:pt idx="3">
                  <c:v>1.03</c:v>
                </c:pt>
                <c:pt idx="4">
                  <c:v>1.0389999999999999</c:v>
                </c:pt>
                <c:pt idx="5">
                  <c:v>1.048</c:v>
                </c:pt>
                <c:pt idx="6">
                  <c:v>1.056</c:v>
                </c:pt>
                <c:pt idx="7">
                  <c:v>1.0629999999999999</c:v>
                </c:pt>
                <c:pt idx="8">
                  <c:v>1.07</c:v>
                </c:pt>
                <c:pt idx="9">
                  <c:v>1.0760000000000001</c:v>
                </c:pt>
                <c:pt idx="10">
                  <c:v>1.081</c:v>
                </c:pt>
                <c:pt idx="11">
                  <c:v>1.085</c:v>
                </c:pt>
                <c:pt idx="12">
                  <c:v>1.0880000000000001</c:v>
                </c:pt>
                <c:pt idx="13">
                  <c:v>1.091</c:v>
                </c:pt>
                <c:pt idx="14">
                  <c:v>1.0940000000000001</c:v>
                </c:pt>
                <c:pt idx="15">
                  <c:v>1.0960000000000001</c:v>
                </c:pt>
                <c:pt idx="16">
                  <c:v>1.097</c:v>
                </c:pt>
                <c:pt idx="17">
                  <c:v>1.099</c:v>
                </c:pt>
                <c:pt idx="18">
                  <c:v>1.101</c:v>
                </c:pt>
                <c:pt idx="19">
                  <c:v>1.103</c:v>
                </c:pt>
                <c:pt idx="20">
                  <c:v>1.105</c:v>
                </c:pt>
                <c:pt idx="21">
                  <c:v>1.107</c:v>
                </c:pt>
                <c:pt idx="22">
                  <c:v>1.1100000000000001</c:v>
                </c:pt>
                <c:pt idx="23">
                  <c:v>1.113</c:v>
                </c:pt>
                <c:pt idx="24">
                  <c:v>1.1160000000000001</c:v>
                </c:pt>
                <c:pt idx="25">
                  <c:v>1.1200000000000001</c:v>
                </c:pt>
                <c:pt idx="26">
                  <c:v>1.125</c:v>
                </c:pt>
                <c:pt idx="27">
                  <c:v>1.1299999999999999</c:v>
                </c:pt>
                <c:pt idx="28">
                  <c:v>1.135</c:v>
                </c:pt>
                <c:pt idx="29">
                  <c:v>1.1399999999999999</c:v>
                </c:pt>
                <c:pt idx="30">
                  <c:v>1.145</c:v>
                </c:pt>
                <c:pt idx="31">
                  <c:v>1.1499999999999999</c:v>
                </c:pt>
                <c:pt idx="32">
                  <c:v>1.1559999999999999</c:v>
                </c:pt>
                <c:pt idx="33">
                  <c:v>1.1599999999999999</c:v>
                </c:pt>
                <c:pt idx="34">
                  <c:v>1.165</c:v>
                </c:pt>
                <c:pt idx="35">
                  <c:v>1.169</c:v>
                </c:pt>
                <c:pt idx="36">
                  <c:v>1.173</c:v>
                </c:pt>
                <c:pt idx="37">
                  <c:v>1.1759999999999999</c:v>
                </c:pt>
                <c:pt idx="38">
                  <c:v>1.1779999999999999</c:v>
                </c:pt>
                <c:pt idx="39">
                  <c:v>1.18</c:v>
                </c:pt>
                <c:pt idx="40">
                  <c:v>1.1819999999999999</c:v>
                </c:pt>
                <c:pt idx="41">
                  <c:v>1.1830000000000001</c:v>
                </c:pt>
                <c:pt idx="42">
                  <c:v>1.1830000000000001</c:v>
                </c:pt>
                <c:pt idx="43">
                  <c:v>1.1839999999999999</c:v>
                </c:pt>
                <c:pt idx="44">
                  <c:v>1.1850000000000001</c:v>
                </c:pt>
                <c:pt idx="45">
                  <c:v>1.1850000000000001</c:v>
                </c:pt>
                <c:pt idx="46">
                  <c:v>1.1859999999999999</c:v>
                </c:pt>
                <c:pt idx="47">
                  <c:v>1.1870000000000001</c:v>
                </c:pt>
                <c:pt idx="48">
                  <c:v>1.1890000000000001</c:v>
                </c:pt>
                <c:pt idx="49">
                  <c:v>1.1910000000000001</c:v>
                </c:pt>
                <c:pt idx="50">
                  <c:v>1.194</c:v>
                </c:pt>
                <c:pt idx="51">
                  <c:v>1.198</c:v>
                </c:pt>
                <c:pt idx="52">
                  <c:v>1.2030000000000001</c:v>
                </c:pt>
                <c:pt idx="53">
                  <c:v>1.2090000000000001</c:v>
                </c:pt>
                <c:pt idx="54">
                  <c:v>1.2150000000000001</c:v>
                </c:pt>
                <c:pt idx="55">
                  <c:v>1.2230000000000001</c:v>
                </c:pt>
                <c:pt idx="56">
                  <c:v>1.2310000000000001</c:v>
                </c:pt>
                <c:pt idx="57">
                  <c:v>1.24</c:v>
                </c:pt>
                <c:pt idx="58">
                  <c:v>1.25</c:v>
                </c:pt>
                <c:pt idx="59">
                  <c:v>1.2609999999999999</c:v>
                </c:pt>
                <c:pt idx="60">
                  <c:v>1.2709999999999999</c:v>
                </c:pt>
                <c:pt idx="61">
                  <c:v>1.282</c:v>
                </c:pt>
                <c:pt idx="62">
                  <c:v>1.2929999999999999</c:v>
                </c:pt>
                <c:pt idx="63">
                  <c:v>1.304</c:v>
                </c:pt>
                <c:pt idx="64">
                  <c:v>1.3149999999999999</c:v>
                </c:pt>
                <c:pt idx="65">
                  <c:v>1.325</c:v>
                </c:pt>
                <c:pt idx="66">
                  <c:v>1.335</c:v>
                </c:pt>
                <c:pt idx="67">
                  <c:v>1.3440000000000001</c:v>
                </c:pt>
                <c:pt idx="68">
                  <c:v>1.353</c:v>
                </c:pt>
                <c:pt idx="69">
                  <c:v>1.361</c:v>
                </c:pt>
                <c:pt idx="70">
                  <c:v>1.3680000000000001</c:v>
                </c:pt>
                <c:pt idx="71">
                  <c:v>1.375</c:v>
                </c:pt>
                <c:pt idx="72">
                  <c:v>1.381</c:v>
                </c:pt>
                <c:pt idx="73">
                  <c:v>1.387</c:v>
                </c:pt>
                <c:pt idx="74">
                  <c:v>1.3919999999999999</c:v>
                </c:pt>
                <c:pt idx="75">
                  <c:v>1.397</c:v>
                </c:pt>
                <c:pt idx="76">
                  <c:v>1.4019999999999999</c:v>
                </c:pt>
                <c:pt idx="77">
                  <c:v>1.407</c:v>
                </c:pt>
                <c:pt idx="78">
                  <c:v>1.411</c:v>
                </c:pt>
                <c:pt idx="79">
                  <c:v>1.4159999999999999</c:v>
                </c:pt>
                <c:pt idx="80">
                  <c:v>1.421</c:v>
                </c:pt>
                <c:pt idx="81">
                  <c:v>1.4259999999999999</c:v>
                </c:pt>
                <c:pt idx="82">
                  <c:v>1.4319999999999999</c:v>
                </c:pt>
                <c:pt idx="83">
                  <c:v>1.4379999999999999</c:v>
                </c:pt>
                <c:pt idx="84">
                  <c:v>1.4450000000000001</c:v>
                </c:pt>
                <c:pt idx="85">
                  <c:v>1.4510000000000001</c:v>
                </c:pt>
                <c:pt idx="86">
                  <c:v>1.4590000000000001</c:v>
                </c:pt>
                <c:pt idx="87">
                  <c:v>1.466</c:v>
                </c:pt>
                <c:pt idx="88">
                  <c:v>1.474</c:v>
                </c:pt>
                <c:pt idx="89">
                  <c:v>1.482</c:v>
                </c:pt>
                <c:pt idx="90">
                  <c:v>1.49</c:v>
                </c:pt>
                <c:pt idx="91">
                  <c:v>1.4970000000000001</c:v>
                </c:pt>
                <c:pt idx="92">
                  <c:v>1.5049999999999999</c:v>
                </c:pt>
                <c:pt idx="93">
                  <c:v>1.512</c:v>
                </c:pt>
                <c:pt idx="94">
                  <c:v>1.5189999999999999</c:v>
                </c:pt>
                <c:pt idx="95">
                  <c:v>1.5249999999999999</c:v>
                </c:pt>
                <c:pt idx="96">
                  <c:v>1.53</c:v>
                </c:pt>
                <c:pt idx="97">
                  <c:v>1.5349999999999999</c:v>
                </c:pt>
                <c:pt idx="98">
                  <c:v>1.5389999999999999</c:v>
                </c:pt>
                <c:pt idx="99">
                  <c:v>1.542</c:v>
                </c:pt>
                <c:pt idx="100">
                  <c:v>1.5449999999999999</c:v>
                </c:pt>
                <c:pt idx="101">
                  <c:v>1.5469999999999999</c:v>
                </c:pt>
                <c:pt idx="102">
                  <c:v>1.5489999999999999</c:v>
                </c:pt>
                <c:pt idx="103">
                  <c:v>1.55</c:v>
                </c:pt>
                <c:pt idx="104">
                  <c:v>1.5509999999999999</c:v>
                </c:pt>
                <c:pt idx="105">
                  <c:v>1.552</c:v>
                </c:pt>
                <c:pt idx="106">
                  <c:v>1.5529999999999999</c:v>
                </c:pt>
                <c:pt idx="107">
                  <c:v>1.554</c:v>
                </c:pt>
                <c:pt idx="108">
                  <c:v>1.556</c:v>
                </c:pt>
                <c:pt idx="109">
                  <c:v>1.5580000000000001</c:v>
                </c:pt>
                <c:pt idx="110">
                  <c:v>1.5609999999999999</c:v>
                </c:pt>
                <c:pt idx="111">
                  <c:v>1.5640000000000001</c:v>
                </c:pt>
                <c:pt idx="112">
                  <c:v>1.569</c:v>
                </c:pt>
                <c:pt idx="113">
                  <c:v>1.5740000000000001</c:v>
                </c:pt>
                <c:pt idx="114">
                  <c:v>1.58</c:v>
                </c:pt>
                <c:pt idx="115">
                  <c:v>1.587</c:v>
                </c:pt>
                <c:pt idx="116">
                  <c:v>1.595</c:v>
                </c:pt>
                <c:pt idx="117">
                  <c:v>1.6040000000000001</c:v>
                </c:pt>
                <c:pt idx="118">
                  <c:v>1.6140000000000001</c:v>
                </c:pt>
                <c:pt idx="119">
                  <c:v>1.6240000000000001</c:v>
                </c:pt>
                <c:pt idx="120">
                  <c:v>1.635</c:v>
                </c:pt>
                <c:pt idx="121">
                  <c:v>1.6459999999999999</c:v>
                </c:pt>
                <c:pt idx="122">
                  <c:v>1.657</c:v>
                </c:pt>
                <c:pt idx="123">
                  <c:v>1.6679999999999999</c:v>
                </c:pt>
                <c:pt idx="124">
                  <c:v>1.68</c:v>
                </c:pt>
                <c:pt idx="125">
                  <c:v>1.6910000000000001</c:v>
                </c:pt>
                <c:pt idx="126">
                  <c:v>1.702</c:v>
                </c:pt>
                <c:pt idx="127">
                  <c:v>1.712</c:v>
                </c:pt>
                <c:pt idx="128">
                  <c:v>1.722</c:v>
                </c:pt>
                <c:pt idx="129">
                  <c:v>1.732</c:v>
                </c:pt>
                <c:pt idx="130">
                  <c:v>1.7410000000000001</c:v>
                </c:pt>
                <c:pt idx="131">
                  <c:v>1.7490000000000001</c:v>
                </c:pt>
                <c:pt idx="132">
                  <c:v>1.758</c:v>
                </c:pt>
                <c:pt idx="133">
                  <c:v>1.7649999999999999</c:v>
                </c:pt>
                <c:pt idx="134">
                  <c:v>1.7729999999999999</c:v>
                </c:pt>
                <c:pt idx="135">
                  <c:v>1.78</c:v>
                </c:pt>
                <c:pt idx="136">
                  <c:v>1.7869999999999999</c:v>
                </c:pt>
                <c:pt idx="137">
                  <c:v>1.7949999999999999</c:v>
                </c:pt>
                <c:pt idx="138">
                  <c:v>1.802</c:v>
                </c:pt>
                <c:pt idx="139">
                  <c:v>1.81</c:v>
                </c:pt>
                <c:pt idx="140">
                  <c:v>1.8180000000000001</c:v>
                </c:pt>
                <c:pt idx="141">
                  <c:v>1.8260000000000001</c:v>
                </c:pt>
                <c:pt idx="142">
                  <c:v>1.835</c:v>
                </c:pt>
                <c:pt idx="143">
                  <c:v>1.8440000000000001</c:v>
                </c:pt>
                <c:pt idx="144">
                  <c:v>1.8540000000000001</c:v>
                </c:pt>
                <c:pt idx="145">
                  <c:v>1.8640000000000001</c:v>
                </c:pt>
                <c:pt idx="146">
                  <c:v>1.875</c:v>
                </c:pt>
                <c:pt idx="147">
                  <c:v>1.8859999999999999</c:v>
                </c:pt>
                <c:pt idx="148">
                  <c:v>1.897</c:v>
                </c:pt>
                <c:pt idx="149">
                  <c:v>1.9079999999999999</c:v>
                </c:pt>
                <c:pt idx="150">
                  <c:v>1.92</c:v>
                </c:pt>
                <c:pt idx="151">
                  <c:v>1.931</c:v>
                </c:pt>
                <c:pt idx="152">
                  <c:v>1.9419999999999999</c:v>
                </c:pt>
                <c:pt idx="153">
                  <c:v>1.952</c:v>
                </c:pt>
                <c:pt idx="154">
                  <c:v>1.9630000000000001</c:v>
                </c:pt>
                <c:pt idx="155">
                  <c:v>1.972</c:v>
                </c:pt>
                <c:pt idx="156">
                  <c:v>1.9810000000000001</c:v>
                </c:pt>
                <c:pt idx="157">
                  <c:v>1.9890000000000001</c:v>
                </c:pt>
                <c:pt idx="158">
                  <c:v>1.996</c:v>
                </c:pt>
                <c:pt idx="159">
                  <c:v>2.0019999999999998</c:v>
                </c:pt>
                <c:pt idx="160">
                  <c:v>2.008</c:v>
                </c:pt>
                <c:pt idx="161">
                  <c:v>2.0129999999999999</c:v>
                </c:pt>
                <c:pt idx="162">
                  <c:v>2.0169999999999999</c:v>
                </c:pt>
                <c:pt idx="163">
                  <c:v>2.0209999999999999</c:v>
                </c:pt>
                <c:pt idx="164">
                  <c:v>2.024</c:v>
                </c:pt>
                <c:pt idx="165">
                  <c:v>2.0270000000000001</c:v>
                </c:pt>
                <c:pt idx="166">
                  <c:v>2.0289999999999999</c:v>
                </c:pt>
                <c:pt idx="167">
                  <c:v>2.032</c:v>
                </c:pt>
                <c:pt idx="168">
                  <c:v>2.0350000000000001</c:v>
                </c:pt>
                <c:pt idx="169">
                  <c:v>2.0379999999999998</c:v>
                </c:pt>
                <c:pt idx="170">
                  <c:v>2.0419999999999998</c:v>
                </c:pt>
                <c:pt idx="171">
                  <c:v>2.0459999999999998</c:v>
                </c:pt>
                <c:pt idx="172">
                  <c:v>2.0510000000000002</c:v>
                </c:pt>
                <c:pt idx="173">
                  <c:v>2.0569999999999999</c:v>
                </c:pt>
                <c:pt idx="174">
                  <c:v>2.0630000000000002</c:v>
                </c:pt>
                <c:pt idx="175">
                  <c:v>2.0710000000000002</c:v>
                </c:pt>
                <c:pt idx="176">
                  <c:v>2.0790000000000002</c:v>
                </c:pt>
                <c:pt idx="177">
                  <c:v>2.0880000000000001</c:v>
                </c:pt>
                <c:pt idx="178">
                  <c:v>2.0979999999999999</c:v>
                </c:pt>
                <c:pt idx="179">
                  <c:v>2.1080000000000001</c:v>
                </c:pt>
                <c:pt idx="180">
                  <c:v>2.1190000000000002</c:v>
                </c:pt>
                <c:pt idx="181">
                  <c:v>2.13</c:v>
                </c:pt>
                <c:pt idx="182">
                  <c:v>2.1419999999999999</c:v>
                </c:pt>
                <c:pt idx="183">
                  <c:v>2.1539999999999999</c:v>
                </c:pt>
                <c:pt idx="184">
                  <c:v>2.165</c:v>
                </c:pt>
                <c:pt idx="185">
                  <c:v>2.177</c:v>
                </c:pt>
                <c:pt idx="186">
                  <c:v>2.1880000000000002</c:v>
                </c:pt>
                <c:pt idx="187">
                  <c:v>2.2000000000000002</c:v>
                </c:pt>
                <c:pt idx="188">
                  <c:v>2.2109999999999999</c:v>
                </c:pt>
                <c:pt idx="189">
                  <c:v>2.2210000000000001</c:v>
                </c:pt>
                <c:pt idx="190">
                  <c:v>2.2309999999999999</c:v>
                </c:pt>
                <c:pt idx="191">
                  <c:v>2.2410000000000001</c:v>
                </c:pt>
                <c:pt idx="192">
                  <c:v>2.2509999999999999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7CC-B746-B7B1-B21D0C60102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Buy-and-Hold ES</c:v>
                </c:pt>
              </c:strCache>
            </c:strRef>
          </c:tx>
          <c:spPr>
            <a:ln w="25400" cap="flat">
              <a:solidFill>
                <a:srgbClr val="0B1838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B1838"/>
              </a:solidFill>
              <a:ln w="9525" cap="flat">
                <a:solidFill>
                  <a:srgbClr val="0B1838"/>
                </a:solidFill>
                <a:prstDash val="solid"/>
                <a:round/>
              </a:ln>
              <a:effectLst/>
            </c:spPr>
          </c:marker>
          <c:cat>
            <c:strRef>
              <c:f>Sheet1!$A$2:$A$194</c:f>
              <c:strCache>
                <c:ptCount val="193"/>
                <c:pt idx="0">
                  <c:v>2010</c:v>
                </c:pt>
                <c:pt idx="12">
                  <c:v>2011</c:v>
                </c:pt>
                <c:pt idx="24">
                  <c:v>2012</c:v>
                </c:pt>
                <c:pt idx="36">
                  <c:v>2013</c:v>
                </c:pt>
                <c:pt idx="48">
                  <c:v>2014</c:v>
                </c:pt>
                <c:pt idx="60">
                  <c:v>2015</c:v>
                </c:pt>
                <c:pt idx="72">
                  <c:v>2016</c:v>
                </c:pt>
                <c:pt idx="84">
                  <c:v>2017</c:v>
                </c:pt>
                <c:pt idx="96">
                  <c:v>2018</c:v>
                </c:pt>
                <c:pt idx="108">
                  <c:v>2019</c:v>
                </c:pt>
                <c:pt idx="120">
                  <c:v>2020</c:v>
                </c:pt>
                <c:pt idx="132">
                  <c:v>2021</c:v>
                </c:pt>
                <c:pt idx="144">
                  <c:v>2022</c:v>
                </c:pt>
                <c:pt idx="156">
                  <c:v>2023</c:v>
                </c:pt>
                <c:pt idx="168">
                  <c:v>2024</c:v>
                </c:pt>
                <c:pt idx="180">
                  <c:v>2025</c:v>
                </c:pt>
                <c:pt idx="192">
                  <c:v>2026</c:v>
                </c:pt>
              </c:strCache>
            </c:strRef>
          </c:cat>
          <c:val>
            <c:numRef>
              <c:f>Sheet1!$C$2:$C$194</c:f>
              <c:numCache>
                <c:formatCode>General</c:formatCode>
                <c:ptCount val="193"/>
                <c:pt idx="0">
                  <c:v>1</c:v>
                </c:pt>
                <c:pt idx="1">
                  <c:v>1.0109999999999999</c:v>
                </c:pt>
                <c:pt idx="2">
                  <c:v>1.022</c:v>
                </c:pt>
                <c:pt idx="3">
                  <c:v>1.0329999999999999</c:v>
                </c:pt>
                <c:pt idx="4">
                  <c:v>1.0449999999999999</c:v>
                </c:pt>
                <c:pt idx="5">
                  <c:v>1.056</c:v>
                </c:pt>
                <c:pt idx="6">
                  <c:v>1.0669999999999999</c:v>
                </c:pt>
                <c:pt idx="7">
                  <c:v>1.079</c:v>
                </c:pt>
                <c:pt idx="8">
                  <c:v>1.0900000000000001</c:v>
                </c:pt>
                <c:pt idx="9">
                  <c:v>1.1020000000000001</c:v>
                </c:pt>
                <c:pt idx="10">
                  <c:v>1.1140000000000001</c:v>
                </c:pt>
                <c:pt idx="11">
                  <c:v>1.125</c:v>
                </c:pt>
                <c:pt idx="12">
                  <c:v>1.137</c:v>
                </c:pt>
                <c:pt idx="13">
                  <c:v>1.149</c:v>
                </c:pt>
                <c:pt idx="14">
                  <c:v>1.161</c:v>
                </c:pt>
                <c:pt idx="15">
                  <c:v>1.1719999999999999</c:v>
                </c:pt>
                <c:pt idx="16">
                  <c:v>1.1839999999999999</c:v>
                </c:pt>
                <c:pt idx="17">
                  <c:v>1.196</c:v>
                </c:pt>
                <c:pt idx="18">
                  <c:v>1.208</c:v>
                </c:pt>
                <c:pt idx="19">
                  <c:v>1.22</c:v>
                </c:pt>
                <c:pt idx="20">
                  <c:v>1.232</c:v>
                </c:pt>
                <c:pt idx="21">
                  <c:v>1.2430000000000001</c:v>
                </c:pt>
                <c:pt idx="22">
                  <c:v>1.2549999999999999</c:v>
                </c:pt>
                <c:pt idx="23">
                  <c:v>1.2669999999999999</c:v>
                </c:pt>
                <c:pt idx="24">
                  <c:v>1.2789999999999999</c:v>
                </c:pt>
                <c:pt idx="25">
                  <c:v>1.2909999999999999</c:v>
                </c:pt>
                <c:pt idx="26">
                  <c:v>1.304</c:v>
                </c:pt>
                <c:pt idx="27">
                  <c:v>1.3160000000000001</c:v>
                </c:pt>
                <c:pt idx="28">
                  <c:v>1.3280000000000001</c:v>
                </c:pt>
                <c:pt idx="29">
                  <c:v>1.34</c:v>
                </c:pt>
                <c:pt idx="30">
                  <c:v>1.353</c:v>
                </c:pt>
                <c:pt idx="31">
                  <c:v>1.365</c:v>
                </c:pt>
                <c:pt idx="32">
                  <c:v>1.3779999999999999</c:v>
                </c:pt>
                <c:pt idx="33">
                  <c:v>1.391</c:v>
                </c:pt>
                <c:pt idx="34">
                  <c:v>1.4039999999999999</c:v>
                </c:pt>
                <c:pt idx="35">
                  <c:v>1.417</c:v>
                </c:pt>
                <c:pt idx="36">
                  <c:v>1.43</c:v>
                </c:pt>
                <c:pt idx="37">
                  <c:v>1.444</c:v>
                </c:pt>
                <c:pt idx="38">
                  <c:v>1.4570000000000001</c:v>
                </c:pt>
                <c:pt idx="39">
                  <c:v>1.4710000000000001</c:v>
                </c:pt>
                <c:pt idx="40">
                  <c:v>1.4850000000000001</c:v>
                </c:pt>
                <c:pt idx="41">
                  <c:v>1.498</c:v>
                </c:pt>
                <c:pt idx="42">
                  <c:v>1.5129999999999999</c:v>
                </c:pt>
                <c:pt idx="43">
                  <c:v>1.5269999999999999</c:v>
                </c:pt>
                <c:pt idx="44">
                  <c:v>1.5409999999999999</c:v>
                </c:pt>
                <c:pt idx="45">
                  <c:v>1.556</c:v>
                </c:pt>
                <c:pt idx="46">
                  <c:v>1.571</c:v>
                </c:pt>
                <c:pt idx="47">
                  <c:v>1.5860000000000001</c:v>
                </c:pt>
                <c:pt idx="48">
                  <c:v>1.601</c:v>
                </c:pt>
                <c:pt idx="49">
                  <c:v>1.6160000000000001</c:v>
                </c:pt>
                <c:pt idx="50">
                  <c:v>1.631</c:v>
                </c:pt>
                <c:pt idx="51">
                  <c:v>1.647</c:v>
                </c:pt>
                <c:pt idx="52">
                  <c:v>1.6619999999999999</c:v>
                </c:pt>
                <c:pt idx="53">
                  <c:v>1.6779999999999999</c:v>
                </c:pt>
                <c:pt idx="54">
                  <c:v>1.694</c:v>
                </c:pt>
                <c:pt idx="55">
                  <c:v>1.71</c:v>
                </c:pt>
                <c:pt idx="56">
                  <c:v>1.7250000000000001</c:v>
                </c:pt>
                <c:pt idx="57">
                  <c:v>1.742</c:v>
                </c:pt>
                <c:pt idx="58">
                  <c:v>1.758</c:v>
                </c:pt>
                <c:pt idx="59">
                  <c:v>1.774</c:v>
                </c:pt>
                <c:pt idx="60">
                  <c:v>1.79</c:v>
                </c:pt>
                <c:pt idx="61">
                  <c:v>1.8069999999999999</c:v>
                </c:pt>
                <c:pt idx="62">
                  <c:v>1.823</c:v>
                </c:pt>
                <c:pt idx="63">
                  <c:v>1.84</c:v>
                </c:pt>
                <c:pt idx="64">
                  <c:v>1.857</c:v>
                </c:pt>
                <c:pt idx="65">
                  <c:v>1.8740000000000001</c:v>
                </c:pt>
                <c:pt idx="66">
                  <c:v>1.891</c:v>
                </c:pt>
                <c:pt idx="67">
                  <c:v>1.9079999999999999</c:v>
                </c:pt>
                <c:pt idx="68">
                  <c:v>1.925</c:v>
                </c:pt>
                <c:pt idx="69">
                  <c:v>1.9430000000000001</c:v>
                </c:pt>
                <c:pt idx="70">
                  <c:v>1.9610000000000001</c:v>
                </c:pt>
                <c:pt idx="71">
                  <c:v>1.9790000000000001</c:v>
                </c:pt>
                <c:pt idx="72">
                  <c:v>1.9970000000000001</c:v>
                </c:pt>
                <c:pt idx="73">
                  <c:v>2.016</c:v>
                </c:pt>
                <c:pt idx="74">
                  <c:v>2.0339999999999998</c:v>
                </c:pt>
                <c:pt idx="75">
                  <c:v>2.0529999999999999</c:v>
                </c:pt>
                <c:pt idx="76">
                  <c:v>2.073</c:v>
                </c:pt>
                <c:pt idx="77">
                  <c:v>2.0920000000000001</c:v>
                </c:pt>
                <c:pt idx="78">
                  <c:v>2.1120000000000001</c:v>
                </c:pt>
                <c:pt idx="79">
                  <c:v>2.133</c:v>
                </c:pt>
                <c:pt idx="80">
                  <c:v>2.1539999999999999</c:v>
                </c:pt>
                <c:pt idx="81">
                  <c:v>2.1749999999999998</c:v>
                </c:pt>
                <c:pt idx="82">
                  <c:v>2.1960000000000002</c:v>
                </c:pt>
                <c:pt idx="83">
                  <c:v>2.2189999999999999</c:v>
                </c:pt>
                <c:pt idx="84">
                  <c:v>2.2410000000000001</c:v>
                </c:pt>
                <c:pt idx="85">
                  <c:v>2.2639999999999998</c:v>
                </c:pt>
                <c:pt idx="86">
                  <c:v>2.2869999999999999</c:v>
                </c:pt>
                <c:pt idx="87">
                  <c:v>2.3109999999999999</c:v>
                </c:pt>
                <c:pt idx="88">
                  <c:v>2.335</c:v>
                </c:pt>
                <c:pt idx="89">
                  <c:v>2.36</c:v>
                </c:pt>
                <c:pt idx="90">
                  <c:v>2.3849999999999998</c:v>
                </c:pt>
                <c:pt idx="91">
                  <c:v>2.411</c:v>
                </c:pt>
                <c:pt idx="92">
                  <c:v>2.4369999999999998</c:v>
                </c:pt>
                <c:pt idx="93">
                  <c:v>2.4630000000000001</c:v>
                </c:pt>
                <c:pt idx="94">
                  <c:v>2.4900000000000002</c:v>
                </c:pt>
                <c:pt idx="95">
                  <c:v>2.5179999999999998</c:v>
                </c:pt>
                <c:pt idx="96">
                  <c:v>2.5449999999999999</c:v>
                </c:pt>
                <c:pt idx="97">
                  <c:v>2.573</c:v>
                </c:pt>
                <c:pt idx="98">
                  <c:v>2.601</c:v>
                </c:pt>
                <c:pt idx="99">
                  <c:v>2.63</c:v>
                </c:pt>
                <c:pt idx="100">
                  <c:v>2.6589999999999998</c:v>
                </c:pt>
                <c:pt idx="101">
                  <c:v>2.6880000000000002</c:v>
                </c:pt>
                <c:pt idx="102">
                  <c:v>2.7170000000000001</c:v>
                </c:pt>
                <c:pt idx="103">
                  <c:v>2.7469999999999999</c:v>
                </c:pt>
                <c:pt idx="104">
                  <c:v>2.7759999999999998</c:v>
                </c:pt>
                <c:pt idx="105">
                  <c:v>2.806</c:v>
                </c:pt>
                <c:pt idx="106">
                  <c:v>2.8359999999999999</c:v>
                </c:pt>
                <c:pt idx="107">
                  <c:v>2.8660000000000001</c:v>
                </c:pt>
                <c:pt idx="108">
                  <c:v>2.8969999999999998</c:v>
                </c:pt>
                <c:pt idx="109">
                  <c:v>2.927</c:v>
                </c:pt>
                <c:pt idx="110">
                  <c:v>2.9569999999999999</c:v>
                </c:pt>
                <c:pt idx="111">
                  <c:v>2.988</c:v>
                </c:pt>
                <c:pt idx="112">
                  <c:v>3.0179999999999998</c:v>
                </c:pt>
                <c:pt idx="113">
                  <c:v>3.0489999999999999</c:v>
                </c:pt>
                <c:pt idx="114">
                  <c:v>3.08</c:v>
                </c:pt>
                <c:pt idx="115">
                  <c:v>3.1110000000000002</c:v>
                </c:pt>
                <c:pt idx="116">
                  <c:v>3.1419999999999999</c:v>
                </c:pt>
                <c:pt idx="117">
                  <c:v>3.173</c:v>
                </c:pt>
                <c:pt idx="118">
                  <c:v>3.2040000000000002</c:v>
                </c:pt>
                <c:pt idx="119">
                  <c:v>3.2349999999999999</c:v>
                </c:pt>
                <c:pt idx="120">
                  <c:v>3.266</c:v>
                </c:pt>
                <c:pt idx="121">
                  <c:v>2.7229999999999999</c:v>
                </c:pt>
                <c:pt idx="122">
                  <c:v>2.8690000000000002</c:v>
                </c:pt>
                <c:pt idx="123">
                  <c:v>3.3610000000000002</c:v>
                </c:pt>
                <c:pt idx="124">
                  <c:v>3.3929999999999998</c:v>
                </c:pt>
                <c:pt idx="125">
                  <c:v>3.4249999999999998</c:v>
                </c:pt>
                <c:pt idx="126">
                  <c:v>3.4580000000000002</c:v>
                </c:pt>
                <c:pt idx="127">
                  <c:v>3.4910000000000001</c:v>
                </c:pt>
                <c:pt idx="128">
                  <c:v>3.524</c:v>
                </c:pt>
                <c:pt idx="129">
                  <c:v>3.5569999999999999</c:v>
                </c:pt>
                <c:pt idx="130">
                  <c:v>3.5910000000000002</c:v>
                </c:pt>
                <c:pt idx="131">
                  <c:v>3.625</c:v>
                </c:pt>
                <c:pt idx="132">
                  <c:v>3.6589999999999998</c:v>
                </c:pt>
                <c:pt idx="133">
                  <c:v>3.694</c:v>
                </c:pt>
                <c:pt idx="134">
                  <c:v>3.7290000000000001</c:v>
                </c:pt>
                <c:pt idx="135">
                  <c:v>3.7650000000000001</c:v>
                </c:pt>
                <c:pt idx="136">
                  <c:v>3.8</c:v>
                </c:pt>
                <c:pt idx="137">
                  <c:v>3.8370000000000002</c:v>
                </c:pt>
                <c:pt idx="138">
                  <c:v>3.8730000000000002</c:v>
                </c:pt>
                <c:pt idx="139">
                  <c:v>3.91</c:v>
                </c:pt>
                <c:pt idx="140">
                  <c:v>3.948</c:v>
                </c:pt>
                <c:pt idx="141">
                  <c:v>3.9860000000000002</c:v>
                </c:pt>
                <c:pt idx="142">
                  <c:v>4.024</c:v>
                </c:pt>
                <c:pt idx="143">
                  <c:v>4.0620000000000003</c:v>
                </c:pt>
                <c:pt idx="144">
                  <c:v>4.101</c:v>
                </c:pt>
                <c:pt idx="145">
                  <c:v>4.0359999999999996</c:v>
                </c:pt>
                <c:pt idx="146">
                  <c:v>3.9710000000000001</c:v>
                </c:pt>
                <c:pt idx="147">
                  <c:v>3.907</c:v>
                </c:pt>
                <c:pt idx="148">
                  <c:v>3.843</c:v>
                </c:pt>
                <c:pt idx="149">
                  <c:v>3.7789999999999999</c:v>
                </c:pt>
                <c:pt idx="150">
                  <c:v>3.7650000000000001</c:v>
                </c:pt>
                <c:pt idx="151">
                  <c:v>3.91</c:v>
                </c:pt>
                <c:pt idx="152">
                  <c:v>4.0549999999999997</c:v>
                </c:pt>
                <c:pt idx="153">
                  <c:v>4.2</c:v>
                </c:pt>
                <c:pt idx="154">
                  <c:v>4.3449999999999998</c:v>
                </c:pt>
                <c:pt idx="155">
                  <c:v>4.4909999999999997</c:v>
                </c:pt>
                <c:pt idx="156">
                  <c:v>4.6369999999999996</c:v>
                </c:pt>
                <c:pt idx="157">
                  <c:v>4.7830000000000004</c:v>
                </c:pt>
                <c:pt idx="158">
                  <c:v>4.6710000000000003</c:v>
                </c:pt>
                <c:pt idx="159">
                  <c:v>4.7130000000000001</c:v>
                </c:pt>
                <c:pt idx="160">
                  <c:v>4.7560000000000002</c:v>
                </c:pt>
                <c:pt idx="161">
                  <c:v>4.798</c:v>
                </c:pt>
                <c:pt idx="162">
                  <c:v>4.8410000000000002</c:v>
                </c:pt>
                <c:pt idx="163">
                  <c:v>4.8849999999999998</c:v>
                </c:pt>
                <c:pt idx="164">
                  <c:v>4.9290000000000003</c:v>
                </c:pt>
                <c:pt idx="165">
                  <c:v>4.9729999999999999</c:v>
                </c:pt>
                <c:pt idx="166">
                  <c:v>5.0170000000000003</c:v>
                </c:pt>
                <c:pt idx="167">
                  <c:v>5.0620000000000003</c:v>
                </c:pt>
                <c:pt idx="168">
                  <c:v>5.1079999999999997</c:v>
                </c:pt>
                <c:pt idx="169">
                  <c:v>5.1539999999999999</c:v>
                </c:pt>
                <c:pt idx="170">
                  <c:v>5.2009999999999996</c:v>
                </c:pt>
                <c:pt idx="171">
                  <c:v>5.2489999999999997</c:v>
                </c:pt>
                <c:pt idx="172">
                  <c:v>5.2969999999999997</c:v>
                </c:pt>
                <c:pt idx="173">
                  <c:v>5.3460000000000001</c:v>
                </c:pt>
                <c:pt idx="174">
                  <c:v>5.3959999999999999</c:v>
                </c:pt>
                <c:pt idx="175">
                  <c:v>5.4470000000000001</c:v>
                </c:pt>
                <c:pt idx="176">
                  <c:v>5.4989999999999997</c:v>
                </c:pt>
                <c:pt idx="177">
                  <c:v>5.5519999999999996</c:v>
                </c:pt>
                <c:pt idx="178">
                  <c:v>5.6059999999999999</c:v>
                </c:pt>
                <c:pt idx="179">
                  <c:v>5.6609999999999996</c:v>
                </c:pt>
                <c:pt idx="180">
                  <c:v>5.7169999999999996</c:v>
                </c:pt>
                <c:pt idx="181">
                  <c:v>5.774</c:v>
                </c:pt>
                <c:pt idx="182">
                  <c:v>5.8319999999999999</c:v>
                </c:pt>
                <c:pt idx="183">
                  <c:v>5.8920000000000003</c:v>
                </c:pt>
                <c:pt idx="184">
                  <c:v>5.952</c:v>
                </c:pt>
                <c:pt idx="185">
                  <c:v>6.0140000000000002</c:v>
                </c:pt>
                <c:pt idx="186">
                  <c:v>6.077</c:v>
                </c:pt>
                <c:pt idx="187">
                  <c:v>6.1420000000000003</c:v>
                </c:pt>
                <c:pt idx="188">
                  <c:v>6.2069999999999999</c:v>
                </c:pt>
                <c:pt idx="189">
                  <c:v>6.2729999999999997</c:v>
                </c:pt>
                <c:pt idx="190">
                  <c:v>6.3410000000000002</c:v>
                </c:pt>
                <c:pt idx="191">
                  <c:v>6.41</c:v>
                </c:pt>
                <c:pt idx="192">
                  <c:v>6.4790000000000001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B7CC-B746-B7B1-B21D0C60102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B6B6B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8"/>
          <c:min val="0"/>
        </c:scaling>
        <c:delete val="0"/>
        <c:axPos val="l"/>
        <c:majorGridlines>
          <c:spPr>
            <a:ln w="6350" cap="flat">
              <a:solidFill>
                <a:srgbClr val="E5DCC2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900" b="0" i="0" u="none" strike="noStrike">
                    <a:solidFill>
                      <a:srgbClr val="6B6B6B"/>
                    </a:solidFill>
                    <a:latin typeface="Calibri"/>
                  </a:defRPr>
                </a:pPr>
                <a:r>
                  <a:rPr lang="en-HK" sz="900" b="0" i="0" u="none" strike="noStrike">
                    <a:solidFill>
                      <a:srgbClr val="6B6B6B"/>
                    </a:solidFill>
                    <a:latin typeface="Calibri"/>
                  </a:rPr>
                  <a:t>NAV (starting = 1.00)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B6B6B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900">
              <a:solidFill>
                <a:srgbClr val="1A2744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AF5E8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1"/>
    <c:plotArea>
      <c:layout/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B&amp;H ES</c:v>
                </c:pt>
              </c:strCache>
            </c:strRef>
          </c:tx>
          <c:spPr>
            <a:solidFill>
              <a:srgbClr val="C9A961">
                <a:alpha val="60000"/>
              </a:srgbClr>
            </a:solidFill>
            <a:effectLst/>
          </c:spPr>
          <c:cat>
            <c:strRef>
              <c:f>Sheet1!$A$2:$A$194</c:f>
              <c:strCache>
                <c:ptCount val="193"/>
                <c:pt idx="0">
                  <c:v>2010</c:v>
                </c:pt>
                <c:pt idx="12">
                  <c:v>2011</c:v>
                </c:pt>
                <c:pt idx="24">
                  <c:v>2012</c:v>
                </c:pt>
                <c:pt idx="36">
                  <c:v>2013</c:v>
                </c:pt>
                <c:pt idx="48">
                  <c:v>2014</c:v>
                </c:pt>
                <c:pt idx="60">
                  <c:v>2015</c:v>
                </c:pt>
                <c:pt idx="72">
                  <c:v>2016</c:v>
                </c:pt>
                <c:pt idx="84">
                  <c:v>2017</c:v>
                </c:pt>
                <c:pt idx="96">
                  <c:v>2018</c:v>
                </c:pt>
                <c:pt idx="108">
                  <c:v>2019</c:v>
                </c:pt>
                <c:pt idx="120">
                  <c:v>2020</c:v>
                </c:pt>
                <c:pt idx="132">
                  <c:v>2021</c:v>
                </c:pt>
                <c:pt idx="144">
                  <c:v>2022</c:v>
                </c:pt>
                <c:pt idx="156">
                  <c:v>2023</c:v>
                </c:pt>
                <c:pt idx="168">
                  <c:v>2024</c:v>
                </c:pt>
                <c:pt idx="180">
                  <c:v>2025</c:v>
                </c:pt>
                <c:pt idx="192">
                  <c:v>2026</c:v>
                </c:pt>
              </c:strCache>
            </c:strRef>
          </c:cat>
          <c:val>
            <c:numRef>
              <c:f>Sheet1!$B$2:$B$194</c:f>
              <c:numCache>
                <c:formatCode>General</c:formatCode>
                <c:ptCount val="193"/>
                <c:pt idx="0">
                  <c:v>0</c:v>
                </c:pt>
                <c:pt idx="1">
                  <c:v>-0.7</c:v>
                </c:pt>
                <c:pt idx="2">
                  <c:v>-1.4</c:v>
                </c:pt>
                <c:pt idx="3">
                  <c:v>-2.08</c:v>
                </c:pt>
                <c:pt idx="4">
                  <c:v>-2.73</c:v>
                </c:pt>
                <c:pt idx="5">
                  <c:v>-3.36</c:v>
                </c:pt>
                <c:pt idx="6">
                  <c:v>-3.96</c:v>
                </c:pt>
                <c:pt idx="7">
                  <c:v>-4.51</c:v>
                </c:pt>
                <c:pt idx="8">
                  <c:v>-5.0199999999999996</c:v>
                </c:pt>
                <c:pt idx="9">
                  <c:v>-5.48</c:v>
                </c:pt>
                <c:pt idx="10">
                  <c:v>-5.88</c:v>
                </c:pt>
                <c:pt idx="11">
                  <c:v>-6.22</c:v>
                </c:pt>
                <c:pt idx="12">
                  <c:v>-6.51</c:v>
                </c:pt>
                <c:pt idx="13">
                  <c:v>-6.74</c:v>
                </c:pt>
                <c:pt idx="14">
                  <c:v>-6.9</c:v>
                </c:pt>
                <c:pt idx="15">
                  <c:v>-7.01</c:v>
                </c:pt>
                <c:pt idx="16">
                  <c:v>-7.06</c:v>
                </c:pt>
                <c:pt idx="17">
                  <c:v>-7.05</c:v>
                </c:pt>
                <c:pt idx="18">
                  <c:v>-6.98</c:v>
                </c:pt>
                <c:pt idx="19">
                  <c:v>-6.87</c:v>
                </c:pt>
                <c:pt idx="20">
                  <c:v>-6.72</c:v>
                </c:pt>
                <c:pt idx="21">
                  <c:v>-6.52</c:v>
                </c:pt>
                <c:pt idx="22">
                  <c:v>-7.4</c:v>
                </c:pt>
                <c:pt idx="23">
                  <c:v>-10.26</c:v>
                </c:pt>
                <c:pt idx="24">
                  <c:v>-15.09</c:v>
                </c:pt>
                <c:pt idx="25">
                  <c:v>-18.12</c:v>
                </c:pt>
                <c:pt idx="26">
                  <c:v>-15.53</c:v>
                </c:pt>
                <c:pt idx="27">
                  <c:v>-10.9</c:v>
                </c:pt>
                <c:pt idx="28">
                  <c:v>-8.39</c:v>
                </c:pt>
                <c:pt idx="29">
                  <c:v>-7.77</c:v>
                </c:pt>
                <c:pt idx="30">
                  <c:v>-8.08</c:v>
                </c:pt>
                <c:pt idx="31">
                  <c:v>-8.33</c:v>
                </c:pt>
                <c:pt idx="32">
                  <c:v>-8.5399999999999991</c:v>
                </c:pt>
                <c:pt idx="33">
                  <c:v>-8.68</c:v>
                </c:pt>
                <c:pt idx="34">
                  <c:v>-8.76</c:v>
                </c:pt>
                <c:pt idx="35">
                  <c:v>-8.77</c:v>
                </c:pt>
                <c:pt idx="36">
                  <c:v>-8.7200000000000006</c:v>
                </c:pt>
                <c:pt idx="37">
                  <c:v>-8.61</c:v>
                </c:pt>
                <c:pt idx="38">
                  <c:v>-8.42</c:v>
                </c:pt>
                <c:pt idx="39">
                  <c:v>-8.18</c:v>
                </c:pt>
                <c:pt idx="40">
                  <c:v>-7.87</c:v>
                </c:pt>
                <c:pt idx="41">
                  <c:v>-7.5</c:v>
                </c:pt>
                <c:pt idx="42">
                  <c:v>-7.08</c:v>
                </c:pt>
                <c:pt idx="43">
                  <c:v>-6.6</c:v>
                </c:pt>
                <c:pt idx="44">
                  <c:v>-6.09</c:v>
                </c:pt>
                <c:pt idx="45">
                  <c:v>-5.53</c:v>
                </c:pt>
                <c:pt idx="46">
                  <c:v>-4.9400000000000004</c:v>
                </c:pt>
                <c:pt idx="47">
                  <c:v>-4.32</c:v>
                </c:pt>
                <c:pt idx="48">
                  <c:v>-3.69</c:v>
                </c:pt>
                <c:pt idx="49">
                  <c:v>-3.63</c:v>
                </c:pt>
                <c:pt idx="50">
                  <c:v>-3.75</c:v>
                </c:pt>
                <c:pt idx="51">
                  <c:v>-3.85</c:v>
                </c:pt>
                <c:pt idx="52">
                  <c:v>-3.92</c:v>
                </c:pt>
                <c:pt idx="53">
                  <c:v>-3.97</c:v>
                </c:pt>
                <c:pt idx="54">
                  <c:v>-3.98</c:v>
                </c:pt>
                <c:pt idx="55">
                  <c:v>-3.95</c:v>
                </c:pt>
                <c:pt idx="56">
                  <c:v>-3.88</c:v>
                </c:pt>
                <c:pt idx="57">
                  <c:v>-3.76</c:v>
                </c:pt>
                <c:pt idx="58">
                  <c:v>-3.59</c:v>
                </c:pt>
                <c:pt idx="59">
                  <c:v>-3.37</c:v>
                </c:pt>
                <c:pt idx="60">
                  <c:v>-3.1</c:v>
                </c:pt>
                <c:pt idx="61">
                  <c:v>-3.2</c:v>
                </c:pt>
                <c:pt idx="62">
                  <c:v>-3.45</c:v>
                </c:pt>
                <c:pt idx="63">
                  <c:v>-3.65</c:v>
                </c:pt>
                <c:pt idx="64">
                  <c:v>-3.81</c:v>
                </c:pt>
                <c:pt idx="65">
                  <c:v>-3.91</c:v>
                </c:pt>
                <c:pt idx="66">
                  <c:v>-3.97</c:v>
                </c:pt>
                <c:pt idx="67">
                  <c:v>-3.98</c:v>
                </c:pt>
                <c:pt idx="68">
                  <c:v>-3.96</c:v>
                </c:pt>
                <c:pt idx="69">
                  <c:v>-3.9</c:v>
                </c:pt>
                <c:pt idx="70">
                  <c:v>-3.81</c:v>
                </c:pt>
                <c:pt idx="71">
                  <c:v>-3.71</c:v>
                </c:pt>
                <c:pt idx="72">
                  <c:v>-3.58</c:v>
                </c:pt>
                <c:pt idx="73">
                  <c:v>-3.92</c:v>
                </c:pt>
                <c:pt idx="74">
                  <c:v>-4.55</c:v>
                </c:pt>
                <c:pt idx="75">
                  <c:v>-5.16</c:v>
                </c:pt>
                <c:pt idx="76">
                  <c:v>-5.73</c:v>
                </c:pt>
                <c:pt idx="77">
                  <c:v>-6.28</c:v>
                </c:pt>
                <c:pt idx="78">
                  <c:v>-6.78</c:v>
                </c:pt>
                <c:pt idx="79">
                  <c:v>-7.24</c:v>
                </c:pt>
                <c:pt idx="80">
                  <c:v>-7.64</c:v>
                </c:pt>
                <c:pt idx="81">
                  <c:v>-7.99</c:v>
                </c:pt>
                <c:pt idx="82">
                  <c:v>-8.27</c:v>
                </c:pt>
                <c:pt idx="83">
                  <c:v>-8.5</c:v>
                </c:pt>
                <c:pt idx="84">
                  <c:v>-8.66</c:v>
                </c:pt>
                <c:pt idx="85">
                  <c:v>-8.75</c:v>
                </c:pt>
                <c:pt idx="86">
                  <c:v>-8.7799999999999994</c:v>
                </c:pt>
                <c:pt idx="87">
                  <c:v>-8.74</c:v>
                </c:pt>
                <c:pt idx="88">
                  <c:v>-8.6300000000000008</c:v>
                </c:pt>
                <c:pt idx="89">
                  <c:v>-8.4700000000000006</c:v>
                </c:pt>
                <c:pt idx="90">
                  <c:v>-8.25</c:v>
                </c:pt>
                <c:pt idx="91">
                  <c:v>-8.58</c:v>
                </c:pt>
                <c:pt idx="92">
                  <c:v>-10.119999999999999</c:v>
                </c:pt>
                <c:pt idx="93">
                  <c:v>-13.1</c:v>
                </c:pt>
                <c:pt idx="94">
                  <c:v>-14.85</c:v>
                </c:pt>
                <c:pt idx="95">
                  <c:v>-12.78</c:v>
                </c:pt>
                <c:pt idx="96">
                  <c:v>-8.9</c:v>
                </c:pt>
                <c:pt idx="97">
                  <c:v>-6.64</c:v>
                </c:pt>
                <c:pt idx="98">
                  <c:v>-6.12</c:v>
                </c:pt>
                <c:pt idx="99">
                  <c:v>-6.37</c:v>
                </c:pt>
                <c:pt idx="100">
                  <c:v>-6.59</c:v>
                </c:pt>
                <c:pt idx="101">
                  <c:v>-6.78</c:v>
                </c:pt>
                <c:pt idx="102">
                  <c:v>-6.92</c:v>
                </c:pt>
                <c:pt idx="103">
                  <c:v>-7.01</c:v>
                </c:pt>
                <c:pt idx="104">
                  <c:v>-7.06</c:v>
                </c:pt>
                <c:pt idx="105">
                  <c:v>-7.05</c:v>
                </c:pt>
                <c:pt idx="106">
                  <c:v>-6.98</c:v>
                </c:pt>
                <c:pt idx="107">
                  <c:v>-6.85</c:v>
                </c:pt>
                <c:pt idx="108">
                  <c:v>-6.66</c:v>
                </c:pt>
                <c:pt idx="109">
                  <c:v>-6.41</c:v>
                </c:pt>
                <c:pt idx="110">
                  <c:v>-6.11</c:v>
                </c:pt>
                <c:pt idx="111">
                  <c:v>-5.74</c:v>
                </c:pt>
                <c:pt idx="112">
                  <c:v>-5.32</c:v>
                </c:pt>
                <c:pt idx="113">
                  <c:v>-4.84</c:v>
                </c:pt>
                <c:pt idx="114">
                  <c:v>-4.3099999999999996</c:v>
                </c:pt>
                <c:pt idx="115">
                  <c:v>-3.75</c:v>
                </c:pt>
                <c:pt idx="116">
                  <c:v>-3.14</c:v>
                </c:pt>
                <c:pt idx="117">
                  <c:v>-2.5</c:v>
                </c:pt>
                <c:pt idx="118">
                  <c:v>-1.83</c:v>
                </c:pt>
                <c:pt idx="119">
                  <c:v>-1.1499999999999999</c:v>
                </c:pt>
                <c:pt idx="120">
                  <c:v>-12.51</c:v>
                </c:pt>
                <c:pt idx="121">
                  <c:v>-33.94</c:v>
                </c:pt>
                <c:pt idx="122">
                  <c:v>-10.51</c:v>
                </c:pt>
                <c:pt idx="123">
                  <c:v>-1.65</c:v>
                </c:pt>
                <c:pt idx="124">
                  <c:v>-2.3199999999999998</c:v>
                </c:pt>
                <c:pt idx="125">
                  <c:v>-2.97</c:v>
                </c:pt>
                <c:pt idx="126">
                  <c:v>-3.58</c:v>
                </c:pt>
                <c:pt idx="127">
                  <c:v>-4.16</c:v>
                </c:pt>
                <c:pt idx="128">
                  <c:v>-4.7</c:v>
                </c:pt>
                <c:pt idx="129">
                  <c:v>-5.19</c:v>
                </c:pt>
                <c:pt idx="130">
                  <c:v>-5.63</c:v>
                </c:pt>
                <c:pt idx="131">
                  <c:v>-6.01</c:v>
                </c:pt>
                <c:pt idx="132">
                  <c:v>-6.33</c:v>
                </c:pt>
                <c:pt idx="133">
                  <c:v>-6.6</c:v>
                </c:pt>
                <c:pt idx="134">
                  <c:v>-6.8</c:v>
                </c:pt>
                <c:pt idx="135">
                  <c:v>-6.95</c:v>
                </c:pt>
                <c:pt idx="136">
                  <c:v>-7.03</c:v>
                </c:pt>
                <c:pt idx="137">
                  <c:v>-7.06</c:v>
                </c:pt>
                <c:pt idx="138">
                  <c:v>-7.03</c:v>
                </c:pt>
                <c:pt idx="139">
                  <c:v>-6.95</c:v>
                </c:pt>
                <c:pt idx="140">
                  <c:v>-6.82</c:v>
                </c:pt>
                <c:pt idx="141">
                  <c:v>-6.65</c:v>
                </c:pt>
                <c:pt idx="142">
                  <c:v>-6.44</c:v>
                </c:pt>
                <c:pt idx="143">
                  <c:v>-6.2</c:v>
                </c:pt>
                <c:pt idx="144">
                  <c:v>-5.93</c:v>
                </c:pt>
                <c:pt idx="145">
                  <c:v>-9.69</c:v>
                </c:pt>
                <c:pt idx="146">
                  <c:v>-13.19</c:v>
                </c:pt>
                <c:pt idx="147">
                  <c:v>-17.48</c:v>
                </c:pt>
                <c:pt idx="148">
                  <c:v>-21.75</c:v>
                </c:pt>
                <c:pt idx="149">
                  <c:v>-24.85</c:v>
                </c:pt>
                <c:pt idx="150">
                  <c:v>-25.81</c:v>
                </c:pt>
                <c:pt idx="151">
                  <c:v>-24.39</c:v>
                </c:pt>
                <c:pt idx="152">
                  <c:v>-21.22</c:v>
                </c:pt>
                <c:pt idx="153">
                  <c:v>-17.43</c:v>
                </c:pt>
                <c:pt idx="154">
                  <c:v>-14.03</c:v>
                </c:pt>
                <c:pt idx="155">
                  <c:v>-11.57</c:v>
                </c:pt>
                <c:pt idx="156">
                  <c:v>-10.050000000000001</c:v>
                </c:pt>
                <c:pt idx="157">
                  <c:v>-9.1999999999999993</c:v>
                </c:pt>
                <c:pt idx="158">
                  <c:v>-8.5500000000000007</c:v>
                </c:pt>
                <c:pt idx="159">
                  <c:v>-8.34</c:v>
                </c:pt>
                <c:pt idx="160">
                  <c:v>-8.07</c:v>
                </c:pt>
                <c:pt idx="161">
                  <c:v>-7.74</c:v>
                </c:pt>
                <c:pt idx="162">
                  <c:v>-7.35</c:v>
                </c:pt>
                <c:pt idx="163">
                  <c:v>-6.91</c:v>
                </c:pt>
                <c:pt idx="164">
                  <c:v>-6.42</c:v>
                </c:pt>
                <c:pt idx="165">
                  <c:v>-5.89</c:v>
                </c:pt>
                <c:pt idx="166">
                  <c:v>-5.32</c:v>
                </c:pt>
                <c:pt idx="167">
                  <c:v>-4.72</c:v>
                </c:pt>
                <c:pt idx="168">
                  <c:v>-4.0999999999999996</c:v>
                </c:pt>
                <c:pt idx="169">
                  <c:v>-3.54</c:v>
                </c:pt>
                <c:pt idx="170">
                  <c:v>-3.67</c:v>
                </c:pt>
                <c:pt idx="171">
                  <c:v>-3.79</c:v>
                </c:pt>
                <c:pt idx="172">
                  <c:v>-3.88</c:v>
                </c:pt>
                <c:pt idx="173">
                  <c:v>-3.94</c:v>
                </c:pt>
                <c:pt idx="174">
                  <c:v>-3.98</c:v>
                </c:pt>
                <c:pt idx="175">
                  <c:v>-3.97</c:v>
                </c:pt>
                <c:pt idx="176">
                  <c:v>-3.93</c:v>
                </c:pt>
                <c:pt idx="177">
                  <c:v>-3.84</c:v>
                </c:pt>
                <c:pt idx="178">
                  <c:v>-3.7</c:v>
                </c:pt>
                <c:pt idx="179">
                  <c:v>-3.51</c:v>
                </c:pt>
                <c:pt idx="180">
                  <c:v>-3.28</c:v>
                </c:pt>
                <c:pt idx="181">
                  <c:v>-3.01</c:v>
                </c:pt>
                <c:pt idx="182">
                  <c:v>-3.3</c:v>
                </c:pt>
                <c:pt idx="183">
                  <c:v>-3.53</c:v>
                </c:pt>
                <c:pt idx="184">
                  <c:v>-3.71</c:v>
                </c:pt>
                <c:pt idx="185">
                  <c:v>-3.85</c:v>
                </c:pt>
                <c:pt idx="186">
                  <c:v>-3.93</c:v>
                </c:pt>
                <c:pt idx="187">
                  <c:v>-3.98</c:v>
                </c:pt>
                <c:pt idx="188">
                  <c:v>-3.98</c:v>
                </c:pt>
                <c:pt idx="189">
                  <c:v>-3.94</c:v>
                </c:pt>
                <c:pt idx="190">
                  <c:v>-3.87</c:v>
                </c:pt>
                <c:pt idx="191">
                  <c:v>-3.78</c:v>
                </c:pt>
                <c:pt idx="192">
                  <c:v>-3.66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65D-3843-9F87-829CBE8694F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Strategy</c:v>
                </c:pt>
              </c:strCache>
            </c:strRef>
          </c:tx>
          <c:spPr>
            <a:solidFill>
              <a:srgbClr val="0B1838">
                <a:alpha val="60000"/>
              </a:srgbClr>
            </a:solidFill>
            <a:effectLst/>
          </c:spPr>
          <c:cat>
            <c:strRef>
              <c:f>Sheet1!$A$2:$A$194</c:f>
              <c:strCache>
                <c:ptCount val="193"/>
                <c:pt idx="0">
                  <c:v>2010</c:v>
                </c:pt>
                <c:pt idx="12">
                  <c:v>2011</c:v>
                </c:pt>
                <c:pt idx="24">
                  <c:v>2012</c:v>
                </c:pt>
                <c:pt idx="36">
                  <c:v>2013</c:v>
                </c:pt>
                <c:pt idx="48">
                  <c:v>2014</c:v>
                </c:pt>
                <c:pt idx="60">
                  <c:v>2015</c:v>
                </c:pt>
                <c:pt idx="72">
                  <c:v>2016</c:v>
                </c:pt>
                <c:pt idx="84">
                  <c:v>2017</c:v>
                </c:pt>
                <c:pt idx="96">
                  <c:v>2018</c:v>
                </c:pt>
                <c:pt idx="108">
                  <c:v>2019</c:v>
                </c:pt>
                <c:pt idx="120">
                  <c:v>2020</c:v>
                </c:pt>
                <c:pt idx="132">
                  <c:v>2021</c:v>
                </c:pt>
                <c:pt idx="144">
                  <c:v>2022</c:v>
                </c:pt>
                <c:pt idx="156">
                  <c:v>2023</c:v>
                </c:pt>
                <c:pt idx="168">
                  <c:v>2024</c:v>
                </c:pt>
                <c:pt idx="180">
                  <c:v>2025</c:v>
                </c:pt>
                <c:pt idx="192">
                  <c:v>2026</c:v>
                </c:pt>
              </c:strCache>
            </c:strRef>
          </c:cat>
          <c:val>
            <c:numRef>
              <c:f>Sheet1!$C$2:$C$194</c:f>
              <c:numCache>
                <c:formatCode>General</c:formatCode>
                <c:ptCount val="193"/>
                <c:pt idx="0">
                  <c:v>0</c:v>
                </c:pt>
                <c:pt idx="1">
                  <c:v>-0.61</c:v>
                </c:pt>
                <c:pt idx="2">
                  <c:v>-1.2</c:v>
                </c:pt>
                <c:pt idx="3">
                  <c:v>-1.73</c:v>
                </c:pt>
                <c:pt idx="4">
                  <c:v>-2.1800000000000002</c:v>
                </c:pt>
                <c:pt idx="5">
                  <c:v>-2.5299999999999998</c:v>
                </c:pt>
                <c:pt idx="6">
                  <c:v>-2.77</c:v>
                </c:pt>
                <c:pt idx="7">
                  <c:v>-2.89</c:v>
                </c:pt>
                <c:pt idx="8">
                  <c:v>-2.89</c:v>
                </c:pt>
                <c:pt idx="9">
                  <c:v>-2.79</c:v>
                </c:pt>
                <c:pt idx="10">
                  <c:v>-2.59</c:v>
                </c:pt>
                <c:pt idx="11">
                  <c:v>-2.31</c:v>
                </c:pt>
                <c:pt idx="12">
                  <c:v>-1.99</c:v>
                </c:pt>
                <c:pt idx="13">
                  <c:v>-2.36</c:v>
                </c:pt>
                <c:pt idx="14">
                  <c:v>-2.72</c:v>
                </c:pt>
                <c:pt idx="15">
                  <c:v>-3.02</c:v>
                </c:pt>
                <c:pt idx="16">
                  <c:v>-3.21</c:v>
                </c:pt>
                <c:pt idx="17">
                  <c:v>-3.3</c:v>
                </c:pt>
                <c:pt idx="18">
                  <c:v>-3.26</c:v>
                </c:pt>
                <c:pt idx="19">
                  <c:v>-3.1</c:v>
                </c:pt>
                <c:pt idx="20">
                  <c:v>-2.82</c:v>
                </c:pt>
                <c:pt idx="21">
                  <c:v>-2.4300000000000002</c:v>
                </c:pt>
                <c:pt idx="22">
                  <c:v>-1.95</c:v>
                </c:pt>
                <c:pt idx="23">
                  <c:v>-1.4</c:v>
                </c:pt>
                <c:pt idx="24">
                  <c:v>-0.81</c:v>
                </c:pt>
                <c:pt idx="25">
                  <c:v>-0.88</c:v>
                </c:pt>
                <c:pt idx="26">
                  <c:v>-1.03</c:v>
                </c:pt>
                <c:pt idx="27">
                  <c:v>-1.1200000000000001</c:v>
                </c:pt>
                <c:pt idx="28">
                  <c:v>-1.4</c:v>
                </c:pt>
                <c:pt idx="29">
                  <c:v>-1.79</c:v>
                </c:pt>
                <c:pt idx="30">
                  <c:v>-2.08</c:v>
                </c:pt>
                <c:pt idx="31">
                  <c:v>-2.2599999999999998</c:v>
                </c:pt>
                <c:pt idx="32">
                  <c:v>-2.33</c:v>
                </c:pt>
                <c:pt idx="33">
                  <c:v>-2.2999999999999998</c:v>
                </c:pt>
                <c:pt idx="34">
                  <c:v>-2.1800000000000002</c:v>
                </c:pt>
                <c:pt idx="35">
                  <c:v>-1.99</c:v>
                </c:pt>
                <c:pt idx="36">
                  <c:v>-1.74</c:v>
                </c:pt>
                <c:pt idx="37">
                  <c:v>-2.09</c:v>
                </c:pt>
                <c:pt idx="38">
                  <c:v>-2.5499999999999998</c:v>
                </c:pt>
                <c:pt idx="39">
                  <c:v>-2.94</c:v>
                </c:pt>
                <c:pt idx="40">
                  <c:v>-3.24</c:v>
                </c:pt>
                <c:pt idx="41">
                  <c:v>-3.42</c:v>
                </c:pt>
                <c:pt idx="42">
                  <c:v>-3.49</c:v>
                </c:pt>
                <c:pt idx="43">
                  <c:v>-3.42</c:v>
                </c:pt>
                <c:pt idx="44">
                  <c:v>-3.23</c:v>
                </c:pt>
                <c:pt idx="45">
                  <c:v>-2.93</c:v>
                </c:pt>
                <c:pt idx="46">
                  <c:v>-2.5299999999999998</c:v>
                </c:pt>
                <c:pt idx="47">
                  <c:v>-2.0499999999999998</c:v>
                </c:pt>
                <c:pt idx="48">
                  <c:v>-1.51</c:v>
                </c:pt>
                <c:pt idx="49">
                  <c:v>-1.53</c:v>
                </c:pt>
                <c:pt idx="50">
                  <c:v>-1.71</c:v>
                </c:pt>
                <c:pt idx="51">
                  <c:v>-1.83</c:v>
                </c:pt>
                <c:pt idx="52">
                  <c:v>-1.88</c:v>
                </c:pt>
                <c:pt idx="53">
                  <c:v>-1.83</c:v>
                </c:pt>
                <c:pt idx="54">
                  <c:v>-1.69</c:v>
                </c:pt>
                <c:pt idx="55">
                  <c:v>-1.51</c:v>
                </c:pt>
                <c:pt idx="56">
                  <c:v>-1.62</c:v>
                </c:pt>
                <c:pt idx="57">
                  <c:v>-1.63</c:v>
                </c:pt>
                <c:pt idx="58">
                  <c:v>-1.56</c:v>
                </c:pt>
                <c:pt idx="59">
                  <c:v>-1.42</c:v>
                </c:pt>
                <c:pt idx="60">
                  <c:v>-1.24</c:v>
                </c:pt>
                <c:pt idx="61">
                  <c:v>-1.56</c:v>
                </c:pt>
                <c:pt idx="62">
                  <c:v>-2.1</c:v>
                </c:pt>
                <c:pt idx="63">
                  <c:v>-2.57</c:v>
                </c:pt>
                <c:pt idx="64">
                  <c:v>-2.96</c:v>
                </c:pt>
                <c:pt idx="65">
                  <c:v>-3.25</c:v>
                </c:pt>
                <c:pt idx="66">
                  <c:v>-3.41</c:v>
                </c:pt>
                <c:pt idx="67">
                  <c:v>-3.45</c:v>
                </c:pt>
                <c:pt idx="68">
                  <c:v>-3.36</c:v>
                </c:pt>
                <c:pt idx="69">
                  <c:v>-3.15</c:v>
                </c:pt>
                <c:pt idx="70">
                  <c:v>-2.84</c:v>
                </c:pt>
                <c:pt idx="71">
                  <c:v>-2.4500000000000002</c:v>
                </c:pt>
                <c:pt idx="72">
                  <c:v>-1.99</c:v>
                </c:pt>
                <c:pt idx="73">
                  <c:v>-1.99</c:v>
                </c:pt>
                <c:pt idx="74">
                  <c:v>-2.2400000000000002</c:v>
                </c:pt>
                <c:pt idx="75">
                  <c:v>-2.42</c:v>
                </c:pt>
                <c:pt idx="76">
                  <c:v>-2.5299999999999998</c:v>
                </c:pt>
                <c:pt idx="77">
                  <c:v>-2.5299999999999998</c:v>
                </c:pt>
                <c:pt idx="78">
                  <c:v>-2.4300000000000002</c:v>
                </c:pt>
                <c:pt idx="79">
                  <c:v>-2.21</c:v>
                </c:pt>
                <c:pt idx="80">
                  <c:v>-1.88</c:v>
                </c:pt>
                <c:pt idx="81">
                  <c:v>-1.46</c:v>
                </c:pt>
                <c:pt idx="82">
                  <c:v>-0.95</c:v>
                </c:pt>
                <c:pt idx="83">
                  <c:v>-0.72</c:v>
                </c:pt>
                <c:pt idx="84">
                  <c:v>-0.56999999999999995</c:v>
                </c:pt>
                <c:pt idx="85">
                  <c:v>-0.83</c:v>
                </c:pt>
                <c:pt idx="86">
                  <c:v>-1.42</c:v>
                </c:pt>
                <c:pt idx="87">
                  <c:v>-1.96</c:v>
                </c:pt>
                <c:pt idx="88">
                  <c:v>-2.42</c:v>
                </c:pt>
                <c:pt idx="89">
                  <c:v>-2.79</c:v>
                </c:pt>
                <c:pt idx="90">
                  <c:v>-3.04</c:v>
                </c:pt>
                <c:pt idx="91">
                  <c:v>-3.17</c:v>
                </c:pt>
                <c:pt idx="92">
                  <c:v>-3.18</c:v>
                </c:pt>
                <c:pt idx="93">
                  <c:v>-4.12</c:v>
                </c:pt>
                <c:pt idx="94">
                  <c:v>-5.36</c:v>
                </c:pt>
                <c:pt idx="95">
                  <c:v>-6.77</c:v>
                </c:pt>
                <c:pt idx="96">
                  <c:v>-7.2</c:v>
                </c:pt>
                <c:pt idx="97">
                  <c:v>-6.38</c:v>
                </c:pt>
                <c:pt idx="98">
                  <c:v>-5.01</c:v>
                </c:pt>
                <c:pt idx="99">
                  <c:v>-3.83</c:v>
                </c:pt>
                <c:pt idx="100">
                  <c:v>-2.97</c:v>
                </c:pt>
                <c:pt idx="101">
                  <c:v>-3.06</c:v>
                </c:pt>
                <c:pt idx="102">
                  <c:v>-3.03</c:v>
                </c:pt>
                <c:pt idx="103">
                  <c:v>-2.87</c:v>
                </c:pt>
                <c:pt idx="104">
                  <c:v>-2.6</c:v>
                </c:pt>
                <c:pt idx="105">
                  <c:v>-2.2200000000000002</c:v>
                </c:pt>
                <c:pt idx="106">
                  <c:v>-1.75</c:v>
                </c:pt>
                <c:pt idx="107">
                  <c:v>-1.2</c:v>
                </c:pt>
                <c:pt idx="108">
                  <c:v>-0.6</c:v>
                </c:pt>
                <c:pt idx="109">
                  <c:v>-0.32</c:v>
                </c:pt>
                <c:pt idx="110">
                  <c:v>-0.62</c:v>
                </c:pt>
                <c:pt idx="111">
                  <c:v>-1.19</c:v>
                </c:pt>
                <c:pt idx="112">
                  <c:v>-1.7</c:v>
                </c:pt>
                <c:pt idx="113">
                  <c:v>-2.12</c:v>
                </c:pt>
                <c:pt idx="114">
                  <c:v>-2.4300000000000002</c:v>
                </c:pt>
                <c:pt idx="115">
                  <c:v>-2.64</c:v>
                </c:pt>
                <c:pt idx="116">
                  <c:v>-2.73</c:v>
                </c:pt>
                <c:pt idx="117">
                  <c:v>-2.71</c:v>
                </c:pt>
                <c:pt idx="118">
                  <c:v>-2.58</c:v>
                </c:pt>
                <c:pt idx="119">
                  <c:v>-2.37</c:v>
                </c:pt>
                <c:pt idx="120">
                  <c:v>-2.1</c:v>
                </c:pt>
                <c:pt idx="121">
                  <c:v>-2.0699999999999998</c:v>
                </c:pt>
                <c:pt idx="122">
                  <c:v>-2.5</c:v>
                </c:pt>
                <c:pt idx="123">
                  <c:v>-2.86</c:v>
                </c:pt>
                <c:pt idx="124">
                  <c:v>-3.15</c:v>
                </c:pt>
                <c:pt idx="125">
                  <c:v>-3.33</c:v>
                </c:pt>
                <c:pt idx="126">
                  <c:v>-3.39</c:v>
                </c:pt>
                <c:pt idx="127">
                  <c:v>-3.32</c:v>
                </c:pt>
                <c:pt idx="128">
                  <c:v>-3.14</c:v>
                </c:pt>
                <c:pt idx="129">
                  <c:v>-2.83</c:v>
                </c:pt>
                <c:pt idx="130">
                  <c:v>-2.42</c:v>
                </c:pt>
                <c:pt idx="131">
                  <c:v>-1.93</c:v>
                </c:pt>
                <c:pt idx="132">
                  <c:v>-1.37</c:v>
                </c:pt>
                <c:pt idx="133">
                  <c:v>-1.02</c:v>
                </c:pt>
                <c:pt idx="134">
                  <c:v>-1.19</c:v>
                </c:pt>
                <c:pt idx="135">
                  <c:v>-1.32</c:v>
                </c:pt>
                <c:pt idx="136">
                  <c:v>-1.38</c:v>
                </c:pt>
                <c:pt idx="137">
                  <c:v>-1.37</c:v>
                </c:pt>
                <c:pt idx="138">
                  <c:v>-1.68</c:v>
                </c:pt>
                <c:pt idx="139">
                  <c:v>-1.93</c:v>
                </c:pt>
                <c:pt idx="140">
                  <c:v>-2.0699999999999998</c:v>
                </c:pt>
                <c:pt idx="141">
                  <c:v>-2.95</c:v>
                </c:pt>
                <c:pt idx="142">
                  <c:v>-4.05</c:v>
                </c:pt>
                <c:pt idx="143">
                  <c:v>-5.28</c:v>
                </c:pt>
                <c:pt idx="144">
                  <c:v>-5.72</c:v>
                </c:pt>
                <c:pt idx="145">
                  <c:v>-5.03</c:v>
                </c:pt>
                <c:pt idx="146">
                  <c:v>-4.18</c:v>
                </c:pt>
                <c:pt idx="147">
                  <c:v>-3.48</c:v>
                </c:pt>
                <c:pt idx="148">
                  <c:v>-3.02</c:v>
                </c:pt>
                <c:pt idx="149">
                  <c:v>-3.3</c:v>
                </c:pt>
                <c:pt idx="150">
                  <c:v>-3.46</c:v>
                </c:pt>
                <c:pt idx="151">
                  <c:v>-3.5</c:v>
                </c:pt>
                <c:pt idx="152">
                  <c:v>-3.41</c:v>
                </c:pt>
                <c:pt idx="153">
                  <c:v>-3.2</c:v>
                </c:pt>
                <c:pt idx="154">
                  <c:v>-2.87</c:v>
                </c:pt>
                <c:pt idx="155">
                  <c:v>-2.46</c:v>
                </c:pt>
                <c:pt idx="156">
                  <c:v>-1.98</c:v>
                </c:pt>
                <c:pt idx="157">
                  <c:v>-1.58</c:v>
                </c:pt>
                <c:pt idx="158">
                  <c:v>-1.81</c:v>
                </c:pt>
                <c:pt idx="159">
                  <c:v>-1.98</c:v>
                </c:pt>
                <c:pt idx="160">
                  <c:v>-2.09</c:v>
                </c:pt>
                <c:pt idx="161">
                  <c:v>-2.11</c:v>
                </c:pt>
                <c:pt idx="162">
                  <c:v>-2.0299999999999998</c:v>
                </c:pt>
                <c:pt idx="163">
                  <c:v>-1.84</c:v>
                </c:pt>
                <c:pt idx="164">
                  <c:v>-1.55</c:v>
                </c:pt>
                <c:pt idx="165">
                  <c:v>-1.39</c:v>
                </c:pt>
                <c:pt idx="166">
                  <c:v>-1.37</c:v>
                </c:pt>
                <c:pt idx="167">
                  <c:v>-1.27</c:v>
                </c:pt>
                <c:pt idx="168">
                  <c:v>-1.1200000000000001</c:v>
                </c:pt>
                <c:pt idx="169">
                  <c:v>-1.03</c:v>
                </c:pt>
                <c:pt idx="170">
                  <c:v>-1.6</c:v>
                </c:pt>
                <c:pt idx="171">
                  <c:v>-2.14</c:v>
                </c:pt>
                <c:pt idx="172">
                  <c:v>-2.6</c:v>
                </c:pt>
                <c:pt idx="173">
                  <c:v>-2.97</c:v>
                </c:pt>
                <c:pt idx="174">
                  <c:v>-3.23</c:v>
                </c:pt>
                <c:pt idx="175">
                  <c:v>-3.37</c:v>
                </c:pt>
                <c:pt idx="176">
                  <c:v>-3.38</c:v>
                </c:pt>
                <c:pt idx="177">
                  <c:v>-3.27</c:v>
                </c:pt>
                <c:pt idx="178">
                  <c:v>-3.04</c:v>
                </c:pt>
                <c:pt idx="179">
                  <c:v>-3.53</c:v>
                </c:pt>
                <c:pt idx="180">
                  <c:v>-4.54</c:v>
                </c:pt>
                <c:pt idx="181">
                  <c:v>-6.19</c:v>
                </c:pt>
                <c:pt idx="182">
                  <c:v>-8.0500000000000007</c:v>
                </c:pt>
                <c:pt idx="183">
                  <c:v>-8.1</c:v>
                </c:pt>
                <c:pt idx="184">
                  <c:v>-6.49</c:v>
                </c:pt>
                <c:pt idx="185">
                  <c:v>-4.58</c:v>
                </c:pt>
                <c:pt idx="186">
                  <c:v>-3.34</c:v>
                </c:pt>
                <c:pt idx="187">
                  <c:v>-2.57</c:v>
                </c:pt>
                <c:pt idx="188">
                  <c:v>-2.3199999999999998</c:v>
                </c:pt>
                <c:pt idx="189">
                  <c:v>-1.96</c:v>
                </c:pt>
                <c:pt idx="190">
                  <c:v>-1.5</c:v>
                </c:pt>
                <c:pt idx="191">
                  <c:v>-0.96</c:v>
                </c:pt>
                <c:pt idx="192">
                  <c:v>-0.41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765D-3843-9F87-829CBE8694F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area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6B6B6B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2"/>
          <c:min val="-40"/>
        </c:scaling>
        <c:delete val="0"/>
        <c:axPos val="l"/>
        <c:majorGridlines>
          <c:spPr>
            <a:ln w="6350" cap="flat">
              <a:solidFill>
                <a:srgbClr val="E5DCC2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800" b="0" i="0" u="none" strike="noStrike">
                    <a:solidFill>
                      <a:srgbClr val="6B6B6B"/>
                    </a:solidFill>
                    <a:latin typeface="Calibri"/>
                  </a:defRPr>
                </a:pPr>
                <a:r>
                  <a:rPr lang="en-HK" sz="800" b="0" i="0" u="none" strike="noStrike">
                    <a:solidFill>
                      <a:srgbClr val="6B6B6B"/>
                    </a:solidFill>
                    <a:latin typeface="Calibri"/>
                  </a:rPr>
                  <a:t>Drawdown (%)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6B6B6B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800">
              <a:solidFill>
                <a:srgbClr val="1A2744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Months</c:v>
                </c:pt>
              </c:strCache>
            </c:strRef>
          </c:tx>
          <c:spPr>
            <a:solidFill>
              <a:srgbClr val="0B1838"/>
            </a:solidFill>
            <a:effectLst/>
          </c:spPr>
          <c:invertIfNegative val="0"/>
          <c:cat>
            <c:strRef>
              <c:f>Sheet1!$A$2:$A$10</c:f>
              <c:strCache>
                <c:ptCount val="9"/>
                <c:pt idx="0">
                  <c:v>-8%</c:v>
                </c:pt>
                <c:pt idx="1">
                  <c:v>-6%</c:v>
                </c:pt>
                <c:pt idx="2">
                  <c:v>-4%</c:v>
                </c:pt>
                <c:pt idx="3">
                  <c:v>-2%</c:v>
                </c:pt>
                <c:pt idx="4">
                  <c:v>0%</c:v>
                </c:pt>
                <c:pt idx="5">
                  <c:v>+2%</c:v>
                </c:pt>
                <c:pt idx="6">
                  <c:v>+4%</c:v>
                </c:pt>
                <c:pt idx="7">
                  <c:v>+6%</c:v>
                </c:pt>
                <c:pt idx="8">
                  <c:v>+8%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1</c:v>
                </c:pt>
                <c:pt idx="1">
                  <c:v>2</c:v>
                </c:pt>
                <c:pt idx="2">
                  <c:v>6</c:v>
                </c:pt>
                <c:pt idx="3">
                  <c:v>16</c:v>
                </c:pt>
                <c:pt idx="4">
                  <c:v>64</c:v>
                </c:pt>
                <c:pt idx="5">
                  <c:v>70</c:v>
                </c:pt>
                <c:pt idx="6">
                  <c:v>24</c:v>
                </c:pt>
                <c:pt idx="7">
                  <c:v>8</c:v>
                </c:pt>
                <c:pt idx="8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FDD-8646-B712-6C3892D6906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B6B6B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5DCC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B6B6B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FAF5E8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Alpha (ann. %)</c:v>
                </c:pt>
              </c:strCache>
            </c:strRef>
          </c:tx>
          <c:spPr>
            <a:solidFill>
              <a:srgbClr val="C9A961"/>
            </a:solidFill>
            <a:effectLst/>
          </c:spPr>
          <c:invertIfNegative val="0"/>
          <c:dLbls>
            <c:numFmt formatCode="0.0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A2744"/>
                    </a:solidFill>
                    <a:latin typeface="Georgia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CAPM</c:v>
                </c:pt>
                <c:pt idx="1">
                  <c:v>Fama–French 3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1.75</c:v>
                </c:pt>
                <c:pt idx="1">
                  <c:v>1.59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CAA-7441-A561-E839F62A7BD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2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A2744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2.2000000000000002"/>
          <c:min val="0"/>
        </c:scaling>
        <c:delete val="0"/>
        <c:axPos val="l"/>
        <c:majorGridlines>
          <c:spPr>
            <a:ln w="6350" cap="flat">
              <a:solidFill>
                <a:srgbClr val="E5DCC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B6B6B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FAF5E8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OOS Sharpe</c:v>
                </c:pt>
              </c:strCache>
            </c:strRef>
          </c:tx>
          <c:spPr>
            <a:solidFill>
              <a:srgbClr val="0B1838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00" b="0" i="0" u="none" strike="noStrike">
                    <a:solidFill>
                      <a:srgbClr val="1A2744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Sheet1!$A$2:$A$12</c:f>
              <c:strCache>
                <c:ptCount val="11"/>
                <c:pt idx="0">
                  <c:v>2016</c:v>
                </c:pt>
                <c:pt idx="1">
                  <c:v>2017</c:v>
                </c:pt>
                <c:pt idx="2">
                  <c:v>2018</c:v>
                </c:pt>
                <c:pt idx="3">
                  <c:v>2019</c:v>
                </c:pt>
                <c:pt idx="4">
                  <c:v>2020</c:v>
                </c:pt>
                <c:pt idx="5">
                  <c:v>2021</c:v>
                </c:pt>
                <c:pt idx="6">
                  <c:v>2022</c:v>
                </c:pt>
                <c:pt idx="7">
                  <c:v>2023</c:v>
                </c:pt>
                <c:pt idx="8">
                  <c:v>2024</c:v>
                </c:pt>
                <c:pt idx="9">
                  <c:v>2025</c:v>
                </c:pt>
                <c:pt idx="10">
                  <c:v>2026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0.36</c:v>
                </c:pt>
                <c:pt idx="1">
                  <c:v>2.42</c:v>
                </c:pt>
                <c:pt idx="2">
                  <c:v>2.02</c:v>
                </c:pt>
                <c:pt idx="3">
                  <c:v>1.74</c:v>
                </c:pt>
                <c:pt idx="4">
                  <c:v>0.32</c:v>
                </c:pt>
                <c:pt idx="5">
                  <c:v>0.9</c:v>
                </c:pt>
                <c:pt idx="6">
                  <c:v>2.84</c:v>
                </c:pt>
                <c:pt idx="7">
                  <c:v>-1.0900000000000001</c:v>
                </c:pt>
                <c:pt idx="8">
                  <c:v>-0.19</c:v>
                </c:pt>
                <c:pt idx="9">
                  <c:v>-0.25</c:v>
                </c:pt>
                <c:pt idx="10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CE1-D34D-995E-C64E3C5FCD4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2C3A5A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5DCC2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800" b="0" i="0" u="none" strike="noStrike">
                    <a:solidFill>
                      <a:srgbClr val="6B6B6B"/>
                    </a:solidFill>
                    <a:latin typeface="Calibri"/>
                  </a:defRPr>
                </a:pPr>
                <a:r>
                  <a:rPr lang="en-HK" sz="800" b="0" i="0" u="none" strike="noStrike">
                    <a:solidFill>
                      <a:srgbClr val="6B6B6B"/>
                    </a:solidFill>
                    <a:latin typeface="Calibri"/>
                  </a:rPr>
                  <a:t>OOS Sharpe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B6B6B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FAF5E8"/>
    </a:solidFill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1yr rolling ρ(Strategy, ES)</c:v>
                </c:pt>
              </c:strCache>
            </c:strRef>
          </c:tx>
          <c:spPr>
            <a:ln w="25400" cap="flat">
              <a:solidFill>
                <a:srgbClr val="0B1838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B1838"/>
              </a:solidFill>
              <a:ln w="9525" cap="flat">
                <a:solidFill>
                  <a:srgbClr val="0B1838"/>
                </a:solidFill>
                <a:prstDash val="solid"/>
                <a:round/>
              </a:ln>
              <a:effectLst/>
            </c:spPr>
          </c:marker>
          <c:cat>
            <c:strRef>
              <c:f>Sheet1!$A$2:$A$182</c:f>
              <c:strCache>
                <c:ptCount val="181"/>
                <c:pt idx="0">
                  <c:v>2011</c:v>
                </c:pt>
                <c:pt idx="12">
                  <c:v>2012</c:v>
                </c:pt>
                <c:pt idx="24">
                  <c:v>2013</c:v>
                </c:pt>
                <c:pt idx="36">
                  <c:v>2014</c:v>
                </c:pt>
                <c:pt idx="48">
                  <c:v>2015</c:v>
                </c:pt>
                <c:pt idx="60">
                  <c:v>2016</c:v>
                </c:pt>
                <c:pt idx="72">
                  <c:v>2017</c:v>
                </c:pt>
                <c:pt idx="84">
                  <c:v>2018</c:v>
                </c:pt>
                <c:pt idx="96">
                  <c:v>2019</c:v>
                </c:pt>
                <c:pt idx="108">
                  <c:v>2020</c:v>
                </c:pt>
                <c:pt idx="120">
                  <c:v>2021</c:v>
                </c:pt>
                <c:pt idx="132">
                  <c:v>2022</c:v>
                </c:pt>
                <c:pt idx="144">
                  <c:v>2023</c:v>
                </c:pt>
                <c:pt idx="156">
                  <c:v>2024</c:v>
                </c:pt>
                <c:pt idx="168">
                  <c:v>2025</c:v>
                </c:pt>
                <c:pt idx="180">
                  <c:v>2026</c:v>
                </c:pt>
              </c:strCache>
            </c:strRef>
          </c:cat>
          <c:val>
            <c:numRef>
              <c:f>Sheet1!$B$2:$B$182</c:f>
              <c:numCache>
                <c:formatCode>General</c:formatCode>
                <c:ptCount val="181"/>
                <c:pt idx="0">
                  <c:v>0.44</c:v>
                </c:pt>
                <c:pt idx="1">
                  <c:v>0.45400000000000001</c:v>
                </c:pt>
                <c:pt idx="2">
                  <c:v>0.46700000000000003</c:v>
                </c:pt>
                <c:pt idx="3">
                  <c:v>0.48</c:v>
                </c:pt>
                <c:pt idx="4">
                  <c:v>0.49299999999999999</c:v>
                </c:pt>
                <c:pt idx="5">
                  <c:v>0.504</c:v>
                </c:pt>
                <c:pt idx="6">
                  <c:v>0.51500000000000001</c:v>
                </c:pt>
                <c:pt idx="7">
                  <c:v>0.52500000000000002</c:v>
                </c:pt>
                <c:pt idx="8">
                  <c:v>0.53300000000000003</c:v>
                </c:pt>
                <c:pt idx="9">
                  <c:v>0.54</c:v>
                </c:pt>
                <c:pt idx="10">
                  <c:v>0.54600000000000004</c:v>
                </c:pt>
                <c:pt idx="11">
                  <c:v>0.55000000000000004</c:v>
                </c:pt>
                <c:pt idx="12">
                  <c:v>0.55300000000000005</c:v>
                </c:pt>
                <c:pt idx="13">
                  <c:v>0.55400000000000005</c:v>
                </c:pt>
                <c:pt idx="14">
                  <c:v>0.55400000000000005</c:v>
                </c:pt>
                <c:pt idx="15">
                  <c:v>0.55200000000000005</c:v>
                </c:pt>
                <c:pt idx="16">
                  <c:v>0.55000000000000004</c:v>
                </c:pt>
                <c:pt idx="17">
                  <c:v>0.54500000000000004</c:v>
                </c:pt>
                <c:pt idx="18">
                  <c:v>0.54</c:v>
                </c:pt>
                <c:pt idx="19">
                  <c:v>0.53400000000000003</c:v>
                </c:pt>
                <c:pt idx="20">
                  <c:v>0.52700000000000002</c:v>
                </c:pt>
                <c:pt idx="21">
                  <c:v>0.51900000000000002</c:v>
                </c:pt>
                <c:pt idx="22">
                  <c:v>0.51100000000000001</c:v>
                </c:pt>
                <c:pt idx="23">
                  <c:v>0.503</c:v>
                </c:pt>
                <c:pt idx="24">
                  <c:v>0.49399999999999999</c:v>
                </c:pt>
                <c:pt idx="25">
                  <c:v>0.48599999999999999</c:v>
                </c:pt>
                <c:pt idx="26">
                  <c:v>0.47799999999999998</c:v>
                </c:pt>
                <c:pt idx="27">
                  <c:v>0.47</c:v>
                </c:pt>
                <c:pt idx="28">
                  <c:v>0.46200000000000002</c:v>
                </c:pt>
                <c:pt idx="29">
                  <c:v>0.45500000000000002</c:v>
                </c:pt>
                <c:pt idx="30">
                  <c:v>0.44900000000000001</c:v>
                </c:pt>
                <c:pt idx="31">
                  <c:v>0.443</c:v>
                </c:pt>
                <c:pt idx="32">
                  <c:v>0.439</c:v>
                </c:pt>
                <c:pt idx="33">
                  <c:v>0.435</c:v>
                </c:pt>
                <c:pt idx="34">
                  <c:v>0.432</c:v>
                </c:pt>
                <c:pt idx="35">
                  <c:v>0.43</c:v>
                </c:pt>
                <c:pt idx="36">
                  <c:v>0.42799999999999999</c:v>
                </c:pt>
                <c:pt idx="37">
                  <c:v>0.42699999999999999</c:v>
                </c:pt>
                <c:pt idx="38">
                  <c:v>0.42699999999999999</c:v>
                </c:pt>
                <c:pt idx="39">
                  <c:v>0.42799999999999999</c:v>
                </c:pt>
                <c:pt idx="40">
                  <c:v>0.42799999999999999</c:v>
                </c:pt>
                <c:pt idx="41">
                  <c:v>0.43</c:v>
                </c:pt>
                <c:pt idx="42">
                  <c:v>0.43099999999999999</c:v>
                </c:pt>
                <c:pt idx="43">
                  <c:v>0.432</c:v>
                </c:pt>
                <c:pt idx="44">
                  <c:v>0.433</c:v>
                </c:pt>
                <c:pt idx="45">
                  <c:v>0.434</c:v>
                </c:pt>
                <c:pt idx="46">
                  <c:v>0.435</c:v>
                </c:pt>
                <c:pt idx="47">
                  <c:v>0.435</c:v>
                </c:pt>
                <c:pt idx="48">
                  <c:v>0.435</c:v>
                </c:pt>
                <c:pt idx="49">
                  <c:v>0.434</c:v>
                </c:pt>
                <c:pt idx="50">
                  <c:v>0.433</c:v>
                </c:pt>
                <c:pt idx="51">
                  <c:v>0.43</c:v>
                </c:pt>
                <c:pt idx="52">
                  <c:v>0.42699999999999999</c:v>
                </c:pt>
                <c:pt idx="53">
                  <c:v>0.42299999999999999</c:v>
                </c:pt>
                <c:pt idx="54">
                  <c:v>0.41899999999999998</c:v>
                </c:pt>
                <c:pt idx="55">
                  <c:v>0.41399999999999998</c:v>
                </c:pt>
                <c:pt idx="56">
                  <c:v>0.40799999999999997</c:v>
                </c:pt>
                <c:pt idx="57">
                  <c:v>0.40100000000000002</c:v>
                </c:pt>
                <c:pt idx="58">
                  <c:v>0.39500000000000002</c:v>
                </c:pt>
                <c:pt idx="59">
                  <c:v>0.38800000000000001</c:v>
                </c:pt>
                <c:pt idx="60">
                  <c:v>0.38100000000000001</c:v>
                </c:pt>
                <c:pt idx="61">
                  <c:v>0.374</c:v>
                </c:pt>
                <c:pt idx="62">
                  <c:v>0.36699999999999999</c:v>
                </c:pt>
                <c:pt idx="63">
                  <c:v>0.36</c:v>
                </c:pt>
                <c:pt idx="64">
                  <c:v>0.35399999999999998</c:v>
                </c:pt>
                <c:pt idx="65">
                  <c:v>0.34899999999999998</c:v>
                </c:pt>
                <c:pt idx="66">
                  <c:v>0.34399999999999997</c:v>
                </c:pt>
                <c:pt idx="67">
                  <c:v>0.34100000000000003</c:v>
                </c:pt>
                <c:pt idx="68">
                  <c:v>0.33800000000000002</c:v>
                </c:pt>
                <c:pt idx="69">
                  <c:v>0.33700000000000002</c:v>
                </c:pt>
                <c:pt idx="70">
                  <c:v>0.33700000000000002</c:v>
                </c:pt>
                <c:pt idx="71">
                  <c:v>0.34</c:v>
                </c:pt>
                <c:pt idx="72">
                  <c:v>0.34499999999999997</c:v>
                </c:pt>
                <c:pt idx="73">
                  <c:v>0.35299999999999998</c:v>
                </c:pt>
                <c:pt idx="74">
                  <c:v>0.36499999999999999</c:v>
                </c:pt>
                <c:pt idx="75">
                  <c:v>0.38400000000000001</c:v>
                </c:pt>
                <c:pt idx="76">
                  <c:v>0.41</c:v>
                </c:pt>
                <c:pt idx="77">
                  <c:v>0.44500000000000001</c:v>
                </c:pt>
                <c:pt idx="78">
                  <c:v>0.48899999999999999</c:v>
                </c:pt>
                <c:pt idx="79">
                  <c:v>0.54300000000000004</c:v>
                </c:pt>
                <c:pt idx="80">
                  <c:v>0.60299999999999998</c:v>
                </c:pt>
                <c:pt idx="81">
                  <c:v>0.66500000000000004</c:v>
                </c:pt>
                <c:pt idx="82">
                  <c:v>0.72399999999999998</c:v>
                </c:pt>
                <c:pt idx="83">
                  <c:v>0.77400000000000002</c:v>
                </c:pt>
                <c:pt idx="84">
                  <c:v>0.80800000000000005</c:v>
                </c:pt>
                <c:pt idx="85">
                  <c:v>0.82299999999999995</c:v>
                </c:pt>
                <c:pt idx="86">
                  <c:v>0.81899999999999995</c:v>
                </c:pt>
                <c:pt idx="87">
                  <c:v>0.79900000000000004</c:v>
                </c:pt>
                <c:pt idx="88">
                  <c:v>0.76600000000000001</c:v>
                </c:pt>
                <c:pt idx="89">
                  <c:v>0.72699999999999998</c:v>
                </c:pt>
                <c:pt idx="90">
                  <c:v>0.68799999999999994</c:v>
                </c:pt>
                <c:pt idx="91">
                  <c:v>0.65400000000000003</c:v>
                </c:pt>
                <c:pt idx="92">
                  <c:v>0.625</c:v>
                </c:pt>
                <c:pt idx="93">
                  <c:v>0.60399999999999998</c:v>
                </c:pt>
                <c:pt idx="94">
                  <c:v>0.59</c:v>
                </c:pt>
                <c:pt idx="95">
                  <c:v>0.58099999999999996</c:v>
                </c:pt>
                <c:pt idx="96">
                  <c:v>0.57599999999999996</c:v>
                </c:pt>
                <c:pt idx="97">
                  <c:v>0.57499999999999996</c:v>
                </c:pt>
                <c:pt idx="98">
                  <c:v>0.57699999999999996</c:v>
                </c:pt>
                <c:pt idx="99">
                  <c:v>0.58199999999999996</c:v>
                </c:pt>
                <c:pt idx="100">
                  <c:v>0.59199999999999997</c:v>
                </c:pt>
                <c:pt idx="101">
                  <c:v>0.60599999999999998</c:v>
                </c:pt>
                <c:pt idx="102">
                  <c:v>0.624</c:v>
                </c:pt>
                <c:pt idx="103">
                  <c:v>0.64700000000000002</c:v>
                </c:pt>
                <c:pt idx="104">
                  <c:v>0.67100000000000004</c:v>
                </c:pt>
                <c:pt idx="105">
                  <c:v>0.69299999999999995</c:v>
                </c:pt>
                <c:pt idx="106">
                  <c:v>0.71</c:v>
                </c:pt>
                <c:pt idx="107">
                  <c:v>0.71699999999999997</c:v>
                </c:pt>
                <c:pt idx="108">
                  <c:v>0.71199999999999997</c:v>
                </c:pt>
                <c:pt idx="109">
                  <c:v>0.69399999999999995</c:v>
                </c:pt>
                <c:pt idx="110">
                  <c:v>0.66300000000000003</c:v>
                </c:pt>
                <c:pt idx="111">
                  <c:v>0.62</c:v>
                </c:pt>
                <c:pt idx="112">
                  <c:v>0.56999999999999995</c:v>
                </c:pt>
                <c:pt idx="113">
                  <c:v>0.51500000000000001</c:v>
                </c:pt>
                <c:pt idx="114">
                  <c:v>0.45900000000000002</c:v>
                </c:pt>
                <c:pt idx="115">
                  <c:v>0.40300000000000002</c:v>
                </c:pt>
                <c:pt idx="116">
                  <c:v>0.35099999999999998</c:v>
                </c:pt>
                <c:pt idx="117">
                  <c:v>0.30499999999999999</c:v>
                </c:pt>
                <c:pt idx="118">
                  <c:v>0.26700000000000002</c:v>
                </c:pt>
                <c:pt idx="119">
                  <c:v>0.24099999999999999</c:v>
                </c:pt>
                <c:pt idx="120">
                  <c:v>0.22800000000000001</c:v>
                </c:pt>
                <c:pt idx="121">
                  <c:v>0.23100000000000001</c:v>
                </c:pt>
                <c:pt idx="122">
                  <c:v>0.248</c:v>
                </c:pt>
                <c:pt idx="123">
                  <c:v>0.27800000000000002</c:v>
                </c:pt>
                <c:pt idx="124">
                  <c:v>0.317</c:v>
                </c:pt>
                <c:pt idx="125">
                  <c:v>0.36299999999999999</c:v>
                </c:pt>
                <c:pt idx="126">
                  <c:v>0.41</c:v>
                </c:pt>
                <c:pt idx="127">
                  <c:v>0.45400000000000001</c:v>
                </c:pt>
                <c:pt idx="128">
                  <c:v>0.49299999999999999</c:v>
                </c:pt>
                <c:pt idx="129">
                  <c:v>0.52400000000000002</c:v>
                </c:pt>
                <c:pt idx="130">
                  <c:v>0.54700000000000004</c:v>
                </c:pt>
                <c:pt idx="131">
                  <c:v>0.56000000000000005</c:v>
                </c:pt>
                <c:pt idx="132">
                  <c:v>0.56499999999999995</c:v>
                </c:pt>
                <c:pt idx="133">
                  <c:v>0.56100000000000005</c:v>
                </c:pt>
                <c:pt idx="134">
                  <c:v>0.55100000000000005</c:v>
                </c:pt>
                <c:pt idx="135">
                  <c:v>0.53500000000000003</c:v>
                </c:pt>
                <c:pt idx="136">
                  <c:v>0.51600000000000001</c:v>
                </c:pt>
                <c:pt idx="137">
                  <c:v>0.496</c:v>
                </c:pt>
                <c:pt idx="138">
                  <c:v>0.47499999999999998</c:v>
                </c:pt>
                <c:pt idx="139">
                  <c:v>0.45600000000000002</c:v>
                </c:pt>
                <c:pt idx="140">
                  <c:v>0.438</c:v>
                </c:pt>
                <c:pt idx="141">
                  <c:v>0.42299999999999999</c:v>
                </c:pt>
                <c:pt idx="142">
                  <c:v>0.40899999999999997</c:v>
                </c:pt>
                <c:pt idx="143">
                  <c:v>0.39800000000000002</c:v>
                </c:pt>
                <c:pt idx="144">
                  <c:v>0.38800000000000001</c:v>
                </c:pt>
                <c:pt idx="145">
                  <c:v>0.379</c:v>
                </c:pt>
                <c:pt idx="146">
                  <c:v>0.372</c:v>
                </c:pt>
                <c:pt idx="147">
                  <c:v>0.36599999999999999</c:v>
                </c:pt>
                <c:pt idx="148">
                  <c:v>0.36099999999999999</c:v>
                </c:pt>
                <c:pt idx="149">
                  <c:v>0.35599999999999998</c:v>
                </c:pt>
                <c:pt idx="150">
                  <c:v>0.35299999999999998</c:v>
                </c:pt>
                <c:pt idx="151">
                  <c:v>0.35099999999999998</c:v>
                </c:pt>
                <c:pt idx="152">
                  <c:v>0.35</c:v>
                </c:pt>
                <c:pt idx="153">
                  <c:v>0.35</c:v>
                </c:pt>
                <c:pt idx="154">
                  <c:v>0.35099999999999998</c:v>
                </c:pt>
                <c:pt idx="155">
                  <c:v>0.35299999999999998</c:v>
                </c:pt>
                <c:pt idx="156">
                  <c:v>0.35699999999999998</c:v>
                </c:pt>
                <c:pt idx="157">
                  <c:v>0.36299999999999999</c:v>
                </c:pt>
                <c:pt idx="158">
                  <c:v>0.371</c:v>
                </c:pt>
                <c:pt idx="159">
                  <c:v>0.38200000000000001</c:v>
                </c:pt>
                <c:pt idx="160">
                  <c:v>0.39800000000000002</c:v>
                </c:pt>
                <c:pt idx="161">
                  <c:v>0.42099999999999999</c:v>
                </c:pt>
                <c:pt idx="162">
                  <c:v>0.45300000000000001</c:v>
                </c:pt>
                <c:pt idx="163">
                  <c:v>0.49399999999999999</c:v>
                </c:pt>
                <c:pt idx="164">
                  <c:v>0.54300000000000004</c:v>
                </c:pt>
                <c:pt idx="165">
                  <c:v>0.59299999999999997</c:v>
                </c:pt>
                <c:pt idx="166">
                  <c:v>0.63700000000000001</c:v>
                </c:pt>
                <c:pt idx="167">
                  <c:v>0.66700000000000004</c:v>
                </c:pt>
                <c:pt idx="168">
                  <c:v>0.67800000000000005</c:v>
                </c:pt>
                <c:pt idx="169">
                  <c:v>0.67100000000000004</c:v>
                </c:pt>
                <c:pt idx="170">
                  <c:v>0.65</c:v>
                </c:pt>
                <c:pt idx="171">
                  <c:v>0.624</c:v>
                </c:pt>
                <c:pt idx="172">
                  <c:v>0.59899999999999998</c:v>
                </c:pt>
                <c:pt idx="173">
                  <c:v>0.58099999999999996</c:v>
                </c:pt>
                <c:pt idx="174">
                  <c:v>0.56999999999999995</c:v>
                </c:pt>
                <c:pt idx="175">
                  <c:v>0.56599999999999995</c:v>
                </c:pt>
                <c:pt idx="176">
                  <c:v>0.56499999999999995</c:v>
                </c:pt>
                <c:pt idx="177">
                  <c:v>0.56599999999999995</c:v>
                </c:pt>
                <c:pt idx="178">
                  <c:v>0.56699999999999995</c:v>
                </c:pt>
                <c:pt idx="179">
                  <c:v>0.56799999999999995</c:v>
                </c:pt>
                <c:pt idx="180">
                  <c:v>0.56699999999999995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F3D9-F549-8562-C62E3EB187D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B6B6B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6350" cap="flat">
              <a:solidFill>
                <a:srgbClr val="E5DCC2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800" b="0" i="0" u="none" strike="noStrike">
                    <a:solidFill>
                      <a:srgbClr val="6B6B6B"/>
                    </a:solidFill>
                    <a:latin typeface="Calibri"/>
                  </a:defRPr>
                </a:pPr>
                <a:r>
                  <a:rPr lang="en-HK" sz="800" b="0" i="0" u="none" strike="noStrike">
                    <a:solidFill>
                      <a:srgbClr val="6B6B6B"/>
                    </a:solidFill>
                    <a:latin typeface="Calibri"/>
                  </a:rPr>
                  <a:t>Rolling Correlation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B6B6B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FAF5E8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412081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?>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?>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?>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?>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?>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?>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?>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?>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?>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?>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?>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?>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?>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?>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?>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?>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?>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?>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?>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?>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?>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?>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?>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?>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?>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?>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?>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.png"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8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320040"/>
            <a:ext cx="36576" cy="4526280"/>
          </a:xfrm>
          <a:prstGeom prst="rect">
            <a:avLst/>
          </a:prstGeom>
          <a:solidFill>
            <a:srgbClr val="C9A9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3200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 3327  //  HEDGE FUND STRATEGY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858000" y="3200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kern="0" spc="500" dirty="0">
                <a:solidFill>
                  <a:srgbClr val="8A8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40080" y="114300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kern="0" spc="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BREADTH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640080" y="19659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i="1" kern="0" spc="400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REVERSAL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640080" y="2926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D9CFB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Systematic Short-Horizon Mean-Reversion Strategy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32004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D9CFB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 the S&amp;P 500 E-mini Futures (ES)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37490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2.13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640080" y="41605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400" dirty="0">
                <a:solidFill>
                  <a:srgbClr val="8A8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SHARPE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2560320" y="37490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0.55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2560320" y="41605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400" dirty="0">
                <a:solidFill>
                  <a:srgbClr val="8A8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SHARPE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480560" y="37490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70.7%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4480560" y="41605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400" dirty="0">
                <a:solidFill>
                  <a:srgbClr val="8A8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 RATE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400800" y="37490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10.83%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6400800" y="41605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400" dirty="0">
                <a:solidFill>
                  <a:srgbClr val="8A8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DRAWDOWN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640080" y="4617720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dirty="0">
                <a:solidFill>
                  <a:srgbClr val="D9CF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Bosco Fung  ·  Lo Nga </a:t>
            </a:r>
            <a:r>
              <a:rPr lang="en-US" sz="900">
                <a:solidFill>
                  <a:srgbClr val="D9CF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Yin Jenny ·  ·  · Group 2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40080" y="4818888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8A8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University of Hong Kong  //  Spring 2026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572000" y="4818888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i="1" dirty="0">
                <a:solidFill>
                  <a:srgbClr val="8A8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Backtest: 08 Feb 2010 — 27 Feb 2026  //  4,039 trading days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5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50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//  EXECUTIVE SUMMARY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Headline Numbers at a Glance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338328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2C3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strategy harvests a short-horizon reversal premium on the S&amp;P 500. It fires only when the 5-day moving average of breadth change falls into the bottom decile of its trailing 20-day distribution — taking a one-day long position at the close.</a:t>
            </a: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2C3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2C3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Over 16 years, the strategy compounded </a:t>
            </a:r>
            <a:r>
              <a:rPr lang="en-US" sz="1100" b="1" dirty="0">
                <a:solidFill>
                  <a:srgbClr val="2C3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126.2%</a:t>
            </a:r>
            <a:r>
              <a:rPr lang="en-US" sz="1100" dirty="0">
                <a:solidFill>
                  <a:srgbClr val="2C3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(CAGR 5.22%) while deployed only 13.9% of the time. True Sharpe of 0.55 trails buy-and-hold's 0.68, but the Active-Day Sharpe is 2.13 and max drawdown is ~⅓ of B&amp;H.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3886200"/>
            <a:ext cx="45720" cy="822960"/>
          </a:xfrm>
          <a:prstGeom prst="rect">
            <a:avLst/>
          </a:prstGeom>
          <a:solidFill>
            <a:srgbClr val="C9A9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40080" y="388620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"A low-exposure tactical overlay: disciplined low volatility, strong conditional deployment economics, positive but statistically inconclusive alpha after HAC correction."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160520" y="1280160"/>
            <a:ext cx="1490472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E5DC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160520" y="1280160"/>
            <a:ext cx="1490472" cy="36576"/>
          </a:xfrm>
          <a:prstGeom prst="rect">
            <a:avLst/>
          </a:prstGeom>
          <a:solidFill>
            <a:srgbClr val="C9A9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297680" y="1389888"/>
            <a:ext cx="1216152" cy="4732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126.2%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297680" y="1863090"/>
            <a:ext cx="12161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COMPOUND RETURN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297680" y="2064258"/>
            <a:ext cx="12161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16-year total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5724144" y="1280160"/>
            <a:ext cx="1490472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E5DC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5724144" y="1280160"/>
            <a:ext cx="1490472" cy="36576"/>
          </a:xfrm>
          <a:prstGeom prst="rect">
            <a:avLst/>
          </a:prstGeom>
          <a:solidFill>
            <a:srgbClr val="C9A9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861304" y="1389888"/>
            <a:ext cx="1216152" cy="4732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5.22%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5861304" y="1863090"/>
            <a:ext cx="12161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CAGR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861304" y="2064258"/>
            <a:ext cx="12161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annualized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7287768" y="1280160"/>
            <a:ext cx="1490472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E5DC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7287768" y="1280160"/>
            <a:ext cx="1490472" cy="36576"/>
          </a:xfrm>
          <a:prstGeom prst="rect">
            <a:avLst/>
          </a:prstGeom>
          <a:solidFill>
            <a:srgbClr val="C9A9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7424928" y="1389888"/>
            <a:ext cx="1216152" cy="4732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2.13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7424928" y="1863090"/>
            <a:ext cx="12161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SHARPE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7424928" y="2064258"/>
            <a:ext cx="12161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in-market only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4160520" y="2404872"/>
            <a:ext cx="1490472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E5DC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4160520" y="2404872"/>
            <a:ext cx="1490472" cy="36576"/>
          </a:xfrm>
          <a:prstGeom prst="rect">
            <a:avLst/>
          </a:prstGeom>
          <a:solidFill>
            <a:srgbClr val="C9A9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297680" y="2514600"/>
            <a:ext cx="1216152" cy="4732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0.55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4297680" y="2987802"/>
            <a:ext cx="12161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SHARPE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4297680" y="3188970"/>
            <a:ext cx="12161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0.68 B&amp;H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5724144" y="2404872"/>
            <a:ext cx="1490472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E5DC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5724144" y="2404872"/>
            <a:ext cx="1490472" cy="36576"/>
          </a:xfrm>
          <a:prstGeom prst="rect">
            <a:avLst/>
          </a:prstGeom>
          <a:solidFill>
            <a:srgbClr val="C9A9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5861304" y="2514600"/>
            <a:ext cx="1216152" cy="4732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10.83%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5861304" y="2987802"/>
            <a:ext cx="12161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DRAWDOWN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5861304" y="3188970"/>
            <a:ext cx="12161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34.4% B&amp;H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7287768" y="2404872"/>
            <a:ext cx="1490472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E5DC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7287768" y="2404872"/>
            <a:ext cx="1490472" cy="36576"/>
          </a:xfrm>
          <a:prstGeom prst="rect">
            <a:avLst/>
          </a:prstGeom>
          <a:solidFill>
            <a:srgbClr val="C9A9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7424928" y="2514600"/>
            <a:ext cx="1216152" cy="4732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13.9%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7424928" y="2987802"/>
            <a:ext cx="12161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EXPOSURE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7424928" y="3188970"/>
            <a:ext cx="12161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 efficient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4160520" y="3529584"/>
            <a:ext cx="1490472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E5DC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4160520" y="3529584"/>
            <a:ext cx="1490472" cy="36576"/>
          </a:xfrm>
          <a:prstGeom prst="rect">
            <a:avLst/>
          </a:prstGeom>
          <a:solidFill>
            <a:srgbClr val="C9A9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4297680" y="3639312"/>
            <a:ext cx="1216152" cy="4732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273</a:t>
            </a:r>
            <a:endParaRPr lang="en-US" sz="2000" dirty="0"/>
          </a:p>
        </p:txBody>
      </p:sp>
      <p:sp>
        <p:nvSpPr>
          <p:cNvPr id="40" name="Text 38"/>
          <p:cNvSpPr/>
          <p:nvPr/>
        </p:nvSpPr>
        <p:spPr>
          <a:xfrm>
            <a:off x="4297680" y="4112514"/>
            <a:ext cx="12161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TRADES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4297680" y="4313682"/>
            <a:ext cx="12161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~17 / year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5724144" y="3529584"/>
            <a:ext cx="1490472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E5DC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5724144" y="3529584"/>
            <a:ext cx="1490472" cy="36576"/>
          </a:xfrm>
          <a:prstGeom prst="rect">
            <a:avLst/>
          </a:prstGeom>
          <a:solidFill>
            <a:srgbClr val="C9A9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5861304" y="3639312"/>
            <a:ext cx="1216152" cy="4732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1.99</a:t>
            </a:r>
            <a:endParaRPr lang="en-US" sz="2000" dirty="0"/>
          </a:p>
        </p:txBody>
      </p:sp>
      <p:sp>
        <p:nvSpPr>
          <p:cNvPr id="45" name="Text 43"/>
          <p:cNvSpPr/>
          <p:nvPr/>
        </p:nvSpPr>
        <p:spPr>
          <a:xfrm>
            <a:off x="5861304" y="4112514"/>
            <a:ext cx="12161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FACTOR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5861304" y="4313682"/>
            <a:ext cx="12161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$1.99 won / $1 lost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7287768" y="3529584"/>
            <a:ext cx="1490472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E5DC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Shape 46"/>
          <p:cNvSpPr/>
          <p:nvPr/>
        </p:nvSpPr>
        <p:spPr>
          <a:xfrm>
            <a:off x="7287768" y="3529584"/>
            <a:ext cx="1490472" cy="36576"/>
          </a:xfrm>
          <a:prstGeom prst="rect">
            <a:avLst/>
          </a:prstGeom>
          <a:solidFill>
            <a:srgbClr val="C9A9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7424928" y="3639312"/>
            <a:ext cx="1216152" cy="4732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7.20%</a:t>
            </a:r>
            <a:endParaRPr lang="en-US" sz="2000" dirty="0"/>
          </a:p>
        </p:txBody>
      </p:sp>
      <p:sp>
        <p:nvSpPr>
          <p:cNvPr id="50" name="Text 48"/>
          <p:cNvSpPr/>
          <p:nvPr/>
        </p:nvSpPr>
        <p:spPr>
          <a:xfrm>
            <a:off x="7424928" y="4112514"/>
            <a:ext cx="12161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ANN. VOLATILITY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7424928" y="4313682"/>
            <a:ext cx="12161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17.4% B&amp;H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457200" y="4754880"/>
            <a:ext cx="8229600" cy="0"/>
          </a:xfrm>
          <a:prstGeom prst="line">
            <a:avLst/>
          </a:prstGeom>
          <a:noFill/>
          <a:ln w="6350">
            <a:solidFill>
              <a:srgbClr val="D8CF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457200" y="4846320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3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BREADTH REVERSAL  //  CONFIDENTIAL — INSTITUTIONAL REVIEW ONLY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7589520" y="484632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kern="0" spc="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21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8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50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//  INSPIRATION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Patron Saint of Inflection Points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371599"/>
            <a:ext cx="2926080" cy="3291833"/>
          </a:xfrm>
          <a:prstGeom prst="rect">
            <a:avLst/>
          </a:prstGeom>
          <a:solidFill>
            <a:srgbClr val="07102A"/>
          </a:solidFill>
          <a:ln w="6350">
            <a:solidFill>
              <a:srgbClr val="C9A9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2926080" cy="45720"/>
          </a:xfrm>
          <a:prstGeom prst="rect">
            <a:avLst/>
          </a:prstGeom>
          <a:solidFill>
            <a:srgbClr val="C9A9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94360" y="150876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57784" y="3428463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GEORGE SOROS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557784" y="37673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D4B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Founder, Soros Fund Management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57784" y="35661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57784" y="4114797"/>
            <a:ext cx="2743200" cy="4754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D9CF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of the great macro traders in history — built his fortune on trend-following but, critically, on knowing when to disengage from the herd.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657600" y="1188720"/>
            <a:ext cx="457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400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6400" dirty="0"/>
          </a:p>
        </p:txBody>
      </p:sp>
      <p:sp>
        <p:nvSpPr>
          <p:cNvPr id="13" name="Text 11"/>
          <p:cNvSpPr/>
          <p:nvPr/>
        </p:nvSpPr>
        <p:spPr>
          <a:xfrm>
            <a:off x="3931920" y="1554480"/>
            <a:ext cx="475488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Most of the time I am a trend follower, but all the time I am aware that I am a member of the herd, and I am on the lookout for inflection points. I watch out for tell-tale signs that a trend may be exhausted. Then I disengage from the herd.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931920" y="310896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George Soros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931920" y="3520440"/>
            <a:ext cx="4572000" cy="0"/>
          </a:xfrm>
          <a:prstGeom prst="line">
            <a:avLst/>
          </a:prstGeom>
          <a:noFill/>
          <a:ln w="6350">
            <a:solidFill>
              <a:srgbClr val="C9A9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931920" y="361188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INTERPRETATION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931920" y="3858768"/>
            <a:ext cx="47548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D9CF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Breadth Reversal operationalises Soros's principle: we stay neutral most of the time, but act only when the tape's cross-sectional character — breadth collapsing faster than price — tells us the trend is exhausting. The 10th-percentile breadth-momentum trigger is our systematic tell-tale sign.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4754880"/>
            <a:ext cx="8229600" cy="0"/>
          </a:xfrm>
          <a:prstGeom prst="line">
            <a:avLst/>
          </a:prstGeom>
          <a:noFill/>
          <a:ln w="6350">
            <a:solidFill>
              <a:srgbClr val="2A34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57200" y="4846320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300" dirty="0">
                <a:solidFill>
                  <a:srgbClr val="8A8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BREADTH REVERSAL  //  CONFIDENTIAL — INSTITUTIONAL REVIEW ONLY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7589520" y="484632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kern="0" spc="200" dirty="0">
                <a:solidFill>
                  <a:srgbClr val="8A8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21</a:t>
            </a:r>
            <a:endParaRPr lang="en-US" sz="800" dirty="0"/>
          </a:p>
        </p:txBody>
      </p:sp>
      <p:pic>
        <p:nvPicPr>
          <p:cNvPr id="21" name="Picture 2" descr="Soros - JIFF">
            <a:extLst>
              <a:ext uri="{FF2B5EF4-FFF2-40B4-BE49-F238E27FC236}">
                <a16:creationId xmlns:a16="http://schemas.microsoft.com/office/drawing/2014/main" id="{657309C1-06DA-0207-51E2-C64E557FE29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91" r="21731"/>
          <a:stretch>
            <a:fillRect/>
          </a:stretch>
        </p:blipFill>
        <p:spPr bwMode="auto">
          <a:xfrm>
            <a:off x="949343" y="1494774"/>
            <a:ext cx="1941794" cy="19197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5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50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//  INVESTMENT THESIS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the Premium Persists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2C3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breadth is a coincident indicator of the cross-sectional character of an index move. When smoothed breadth collapses faster than price, three structural mechanisms transfer short-horizon directional risk to patient liquidity providers at a discount.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2057400"/>
            <a:ext cx="2606040" cy="2468880"/>
          </a:xfrm>
          <a:prstGeom prst="rect">
            <a:avLst/>
          </a:prstGeom>
          <a:solidFill>
            <a:srgbClr val="FFFFFF"/>
          </a:solidFill>
          <a:ln w="6350">
            <a:solidFill>
              <a:srgbClr val="E5DC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2057400"/>
            <a:ext cx="36576" cy="2468880"/>
          </a:xfrm>
          <a:prstGeom prst="rect">
            <a:avLst/>
          </a:prstGeom>
          <a:solidFill>
            <a:srgbClr val="C9A9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40080" y="214884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i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640080" y="283464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Risk-Bearing Compensation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3291840"/>
            <a:ext cx="2331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2C3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Mutual funds at month-end, leveraged accounts near margin limits, and risk-parity vehicles facing volatility triggers become structural sellers on broad-decline days. They pay a premium to offload short-horizon directional risk.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40080" y="4160520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i="1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Nagel (2012)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200400" y="2057400"/>
            <a:ext cx="2606040" cy="2468880"/>
          </a:xfrm>
          <a:prstGeom prst="rect">
            <a:avLst/>
          </a:prstGeom>
          <a:solidFill>
            <a:srgbClr val="FFFFFF"/>
          </a:solidFill>
          <a:ln w="6350">
            <a:solidFill>
              <a:srgbClr val="E5DC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200400" y="2057400"/>
            <a:ext cx="36576" cy="2468880"/>
          </a:xfrm>
          <a:prstGeom prst="rect">
            <a:avLst/>
          </a:prstGeom>
          <a:solidFill>
            <a:srgbClr val="C9A9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383280" y="214884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i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II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3383280" y="283464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Behavioural Overreaction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383280" y="3291840"/>
            <a:ext cx="2331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2C3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and advisory flows show capitulation-style selling into broad-based declines. Short-horizon overreaction is a stable, replicated behavioural feature of equity markets across multiple decades.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383280" y="4160520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i="1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Barberis, Shleifer, Vishny (1998)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943600" y="2057400"/>
            <a:ext cx="2606040" cy="2468880"/>
          </a:xfrm>
          <a:prstGeom prst="rect">
            <a:avLst/>
          </a:prstGeom>
          <a:solidFill>
            <a:srgbClr val="FFFFFF"/>
          </a:solidFill>
          <a:ln w="6350">
            <a:solidFill>
              <a:srgbClr val="E5DC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5943600" y="2057400"/>
            <a:ext cx="36576" cy="2468880"/>
          </a:xfrm>
          <a:prstGeom prst="rect">
            <a:avLst/>
          </a:prstGeom>
          <a:solidFill>
            <a:srgbClr val="C9A9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126480" y="214884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i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III</a:t>
            </a:r>
            <a:endParaRPr lang="en-US" sz="3200" dirty="0"/>
          </a:p>
        </p:txBody>
      </p:sp>
      <p:sp>
        <p:nvSpPr>
          <p:cNvPr id="20" name="Text 18"/>
          <p:cNvSpPr/>
          <p:nvPr/>
        </p:nvSpPr>
        <p:spPr>
          <a:xfrm>
            <a:off x="6126480" y="283464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Asymmetric Horizons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126480" y="3291840"/>
            <a:ext cx="2331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2C3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marginal price-setter at the close on a broad-decline day is often a forced seller; the marginal buyer the next morning is often shorter-horizon discretionary or systematic capital. A 1-day hold captures this handoff.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126480" y="4160520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i="1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&amp; MacKinlay (1990)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57200" y="4754880"/>
            <a:ext cx="8229600" cy="0"/>
          </a:xfrm>
          <a:prstGeom prst="line">
            <a:avLst/>
          </a:prstGeom>
          <a:noFill/>
          <a:ln w="6350">
            <a:solidFill>
              <a:srgbClr val="D8CF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57200" y="4846320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3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BREADTH REVERSAL  //  CONFIDENTIAL — INSTITUTIONAL REVIEW ONLY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7589520" y="484632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kern="0" spc="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21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5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50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//  EMPIRICAL EDGE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Forward Return by Breadth Bucket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2C3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sort trading days into deciles by the percentile rank of our smoothed breadth-difference indicator. Only the bottom decile — our signal zone — shows a statistically meaningful conditional edge.</a:t>
            </a:r>
            <a:endParaRPr lang="en-US" sz="11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457200" y="1828800"/>
          <a:ext cx="530352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5943600" y="1828800"/>
            <a:ext cx="274320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5DC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5943600" y="1828800"/>
            <a:ext cx="36576" cy="868680"/>
          </a:xfrm>
          <a:prstGeom prst="rect">
            <a:avLst/>
          </a:prstGeom>
          <a:solidFill>
            <a:srgbClr val="C9A9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6080760" y="18745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+0.17%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6080760" y="219456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Zone Mean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6080760" y="23774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2C3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Approx. 3 standard errors above zero; ~4× the unconditional mean.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5943600" y="2834640"/>
            <a:ext cx="274320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5DC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5943600" y="2834640"/>
            <a:ext cx="36576" cy="868680"/>
          </a:xfrm>
          <a:prstGeom prst="rect">
            <a:avLst/>
          </a:prstGeom>
          <a:solidFill>
            <a:srgbClr val="C9A9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6080760" y="288036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~0.05%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6080760" y="320040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Error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6080760" y="33832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2C3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bucket, with ≈ 404 observations per decile. Only the bottom clears 2 SE.</a:t>
            </a:r>
            <a:endParaRPr lang="en-US" sz="800" dirty="0"/>
          </a:p>
        </p:txBody>
      </p:sp>
      <p:sp>
        <p:nvSpPr>
          <p:cNvPr id="16" name="Shape 13"/>
          <p:cNvSpPr/>
          <p:nvPr/>
        </p:nvSpPr>
        <p:spPr>
          <a:xfrm>
            <a:off x="5943600" y="3840480"/>
            <a:ext cx="274320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5DC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5943600" y="3840480"/>
            <a:ext cx="36576" cy="868680"/>
          </a:xfrm>
          <a:prstGeom prst="rect">
            <a:avLst/>
          </a:prstGeom>
          <a:solidFill>
            <a:srgbClr val="C9A9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6080760" y="38862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Tail-Driven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6080760" y="420624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Monotonic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6080760" y="43891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2C3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Intermediate buckets are noise. Edge is concentrated in the bottom bucket — where behavioural mechanisms bite.</a:t>
            </a:r>
            <a:endParaRPr lang="en-US" sz="800" dirty="0"/>
          </a:p>
        </p:txBody>
      </p:sp>
      <p:sp>
        <p:nvSpPr>
          <p:cNvPr id="21" name="Shape 18"/>
          <p:cNvSpPr/>
          <p:nvPr/>
        </p:nvSpPr>
        <p:spPr>
          <a:xfrm>
            <a:off x="457200" y="4754880"/>
            <a:ext cx="8229600" cy="0"/>
          </a:xfrm>
          <a:prstGeom prst="line">
            <a:avLst/>
          </a:prstGeom>
          <a:noFill/>
          <a:ln w="6350">
            <a:solidFill>
              <a:srgbClr val="D8CF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457200" y="4846320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3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BREADTH REVERSAL  //  CONFIDENTIAL — INSTITUTIONAL REVIEW ONLY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7589520" y="484632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kern="0" spc="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21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5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50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//  STRATEGY DESIGN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Signal Construction — A 5-Step Cascade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88620" y="1417320"/>
            <a:ext cx="160020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5DC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88620" y="1417320"/>
            <a:ext cx="1600200" cy="45720"/>
          </a:xfrm>
          <a:prstGeom prst="rect">
            <a:avLst/>
          </a:prstGeom>
          <a:solidFill>
            <a:srgbClr val="C9A9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80060" y="1554480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80060" y="201168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DIFFERENCE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80060" y="2331720"/>
            <a:ext cx="1417320" cy="0"/>
          </a:xfrm>
          <a:prstGeom prst="line">
            <a:avLst/>
          </a:prstGeom>
          <a:noFill/>
          <a:ln w="6350">
            <a:solidFill>
              <a:srgbClr val="C9A9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80060" y="237744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i="1" dirty="0">
                <a:solidFill>
                  <a:srgbClr val="2C3A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ΔBRDₜ = BRDₜ − BRDₜ₋₁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80060" y="292608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daily change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1988820" y="2194560"/>
            <a:ext cx="91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2080260" y="1417320"/>
            <a:ext cx="160020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5DC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2080260" y="1417320"/>
            <a:ext cx="1600200" cy="45720"/>
          </a:xfrm>
          <a:prstGeom prst="rect">
            <a:avLst/>
          </a:prstGeom>
          <a:solidFill>
            <a:srgbClr val="C9A9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2171700" y="1554480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2171700" y="201168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SMOOTH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171700" y="2331720"/>
            <a:ext cx="1417320" cy="0"/>
          </a:xfrm>
          <a:prstGeom prst="line">
            <a:avLst/>
          </a:prstGeom>
          <a:noFill/>
          <a:ln w="6350">
            <a:solidFill>
              <a:srgbClr val="C9A9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2171700" y="237744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i="1" dirty="0">
                <a:solidFill>
                  <a:srgbClr val="2C3A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MA5ₜ = mean(ΔBRDₜ₋₄…ΔBRDₜ)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171700" y="292608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5-day moving average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3680460" y="2194560"/>
            <a:ext cx="91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3771900" y="1417320"/>
            <a:ext cx="160020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5DC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3771900" y="1417320"/>
            <a:ext cx="1600200" cy="45720"/>
          </a:xfrm>
          <a:prstGeom prst="rect">
            <a:avLst/>
          </a:prstGeom>
          <a:solidFill>
            <a:srgbClr val="C9A9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863340" y="1554480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3863340" y="201168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PERCENTILE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863340" y="2331720"/>
            <a:ext cx="1417320" cy="0"/>
          </a:xfrm>
          <a:prstGeom prst="line">
            <a:avLst/>
          </a:prstGeom>
          <a:noFill/>
          <a:ln w="6350">
            <a:solidFill>
              <a:srgbClr val="C9A9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3863340" y="237744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i="1" dirty="0">
                <a:solidFill>
                  <a:srgbClr val="2C3A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Pₜ = rank(MA5ₜ) / 20-day window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863340" y="292608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Trailing rank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5372100" y="2194560"/>
            <a:ext cx="91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5463540" y="1417320"/>
            <a:ext cx="160020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5DC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5463540" y="1417320"/>
            <a:ext cx="1600200" cy="45720"/>
          </a:xfrm>
          <a:prstGeom prst="rect">
            <a:avLst/>
          </a:prstGeom>
          <a:solidFill>
            <a:srgbClr val="C9A9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5554980" y="1554480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400" dirty="0"/>
          </a:p>
        </p:txBody>
      </p:sp>
      <p:sp>
        <p:nvSpPr>
          <p:cNvPr id="31" name="Text 29"/>
          <p:cNvSpPr/>
          <p:nvPr/>
        </p:nvSpPr>
        <p:spPr>
          <a:xfrm>
            <a:off x="5554980" y="201168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554980" y="2331720"/>
            <a:ext cx="1417320" cy="0"/>
          </a:xfrm>
          <a:prstGeom prst="line">
            <a:avLst/>
          </a:prstGeom>
          <a:noFill/>
          <a:ln w="6350">
            <a:solidFill>
              <a:srgbClr val="C9A9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5554980" y="237744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i="1" dirty="0">
                <a:solidFill>
                  <a:srgbClr val="2C3A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If Pₜ ≤ 10 → long at close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554980" y="292608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 decile only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7063740" y="2194560"/>
            <a:ext cx="91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36" name="Shape 34"/>
          <p:cNvSpPr/>
          <p:nvPr/>
        </p:nvSpPr>
        <p:spPr>
          <a:xfrm>
            <a:off x="7155180" y="1417320"/>
            <a:ext cx="160020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5DC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7155180" y="1417320"/>
            <a:ext cx="1600200" cy="45720"/>
          </a:xfrm>
          <a:prstGeom prst="rect">
            <a:avLst/>
          </a:prstGeom>
          <a:solidFill>
            <a:srgbClr val="C9A9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7246620" y="1554480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2400" dirty="0"/>
          </a:p>
        </p:txBody>
      </p:sp>
      <p:sp>
        <p:nvSpPr>
          <p:cNvPr id="39" name="Text 37"/>
          <p:cNvSpPr/>
          <p:nvPr/>
        </p:nvSpPr>
        <p:spPr>
          <a:xfrm>
            <a:off x="7246620" y="201168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7246620" y="2331720"/>
            <a:ext cx="1417320" cy="0"/>
          </a:xfrm>
          <a:prstGeom prst="line">
            <a:avLst/>
          </a:prstGeom>
          <a:noFill/>
          <a:ln w="6350">
            <a:solidFill>
              <a:srgbClr val="C9A9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7246620" y="237744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i="1" dirty="0">
                <a:solidFill>
                  <a:srgbClr val="2C3A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Close at close of day t+1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7246620" y="292608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1-day holding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457200" y="3520440"/>
            <a:ext cx="8229600" cy="1051560"/>
          </a:xfrm>
          <a:prstGeom prst="rect">
            <a:avLst/>
          </a:prstGeom>
          <a:solidFill>
            <a:srgbClr val="0B18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640080" y="3611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PnL DEFINITION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640080" y="385876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PnLₜ = Signalₜ × (Closeₜ₊₁ / Closeₜ − 1) − TCₜ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640080" y="4187952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D9CF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PnL booked on decision date t; return realised over (t, t+1]. Factor regressions shift PnL forward one day so strategy returns and Fama–French factors are synchronous on the realisation date.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457200" y="4754880"/>
            <a:ext cx="8229600" cy="0"/>
          </a:xfrm>
          <a:prstGeom prst="line">
            <a:avLst/>
          </a:prstGeom>
          <a:noFill/>
          <a:ln w="6350">
            <a:solidFill>
              <a:srgbClr val="D8CF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457200" y="4846320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3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BREADTH REVERSAL  //  CONFIDENTIAL — INSTITUTIONAL REVIEW ONLY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7589520" y="484632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kern="0" spc="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21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5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50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//  SPECIFICATION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Parameters, Data &amp; Implementation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32588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 SPECIFICATION</a:t>
            </a:r>
            <a:endParaRPr lang="en-US" sz="9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00200"/>
          <a:ext cx="4114800" cy="2615184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377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6B6B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Signal input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1A27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Equal-weighted S&amp;P 500 breadth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6B6B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Differencing lag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1A27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trading day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6B6B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Smoothing window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1A27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trading days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6B6B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Percentile lookback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1A27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 trading days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6B6B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Entry threshold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1A27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10th percentile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6B6B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Holding period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1A27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trading day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6B6B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Side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1A27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Long-only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6B6B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Instrument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1A27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S&amp;P 500 E-mini Futures (ES)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6B6B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Rebalance frequency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1A27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Daily close (MOC)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6B6B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Transaction costs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1A27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bps / side  //  4 bps round trip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6B6B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Risk-free rate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1A27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FF daily RF series (time-varying)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846320" y="132588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SOURCES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846320" y="1600200"/>
            <a:ext cx="384048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E5DC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5"/>
          <p:cNvSpPr/>
          <p:nvPr/>
        </p:nvSpPr>
        <p:spPr>
          <a:xfrm>
            <a:off x="4846320" y="1600200"/>
            <a:ext cx="36576" cy="1188720"/>
          </a:xfrm>
          <a:prstGeom prst="rect">
            <a:avLst/>
          </a:prstGeom>
          <a:solidFill>
            <a:srgbClr val="C9A9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4983480" y="16642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Bloomberg Terminal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983480" y="196596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2C3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breadth (% S&amp;P 500 constituents advancing) and daily ES close prices, Feb 2010 – Feb 2026. Point-in-time series using historical index membership.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4983480" y="254203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bloomberg_data.xlsx  ·  sheets: Breadth, ES Option</a:t>
            </a: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>
            <a:off x="4846320" y="2880360"/>
            <a:ext cx="384048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E5DC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4846320" y="2880360"/>
            <a:ext cx="36576" cy="1005840"/>
          </a:xfrm>
          <a:prstGeom prst="rect">
            <a:avLst/>
          </a:prstGeom>
          <a:solidFill>
            <a:srgbClr val="C9A9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4983480" y="29443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Kenneth French Data Library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4983480" y="324612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2C3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Fama–French 3-factor series (Mkt-RF, SMB, HML, RF). Used for factor attribution and as the time-varying daily risk-free rate.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4846320" y="397764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CONVENTIONS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4846320" y="4224528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No look-ahead  </a:t>
            </a:r>
            <a:r>
              <a:rPr lang="en-US" sz="900" dirty="0">
                <a:solidFill>
                  <a:srgbClr val="2C3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Percentile at t uses only data through t.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4846320" y="4407408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MOC execution  </a:t>
            </a:r>
            <a:r>
              <a:rPr lang="en-US" sz="900" dirty="0">
                <a:solidFill>
                  <a:srgbClr val="2C3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3:45pm breadth snapshot proxies the close.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4846320" y="4590288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Factor timing  </a:t>
            </a:r>
            <a:r>
              <a:rPr lang="en-US" sz="900" dirty="0">
                <a:solidFill>
                  <a:srgbClr val="2C3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PnL shifted 1d fwd to align with FF factors.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457200" y="4754880"/>
            <a:ext cx="8229600" cy="0"/>
          </a:xfrm>
          <a:prstGeom prst="line">
            <a:avLst/>
          </a:prstGeom>
          <a:noFill/>
          <a:ln w="6350">
            <a:solidFill>
              <a:srgbClr val="D8CF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457200" y="4846320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3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BREADTH REVERSAL  //  CONFIDENTIAL — INSTITUTIONAL REVIEW ONLY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7589520" y="484632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kern="0" spc="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21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5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50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//  PERFORMANCE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Cumulative NAV  //  Strategy vs B&amp;H ES</a:t>
            </a:r>
            <a:endParaRPr lang="en-US" sz="28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457200" y="1371600"/>
          <a:ext cx="8229600" cy="2606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4114800"/>
            <a:ext cx="1965960" cy="594360"/>
          </a:xfrm>
          <a:prstGeom prst="rect">
            <a:avLst/>
          </a:prstGeom>
          <a:solidFill>
            <a:srgbClr val="0B18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566928" y="4160520"/>
            <a:ext cx="17465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+126.2%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566928" y="4480560"/>
            <a:ext cx="17465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kern="0" spc="300" dirty="0">
                <a:solidFill>
                  <a:srgbClr val="D9CF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 TOTAL RETURN</a:t>
            </a:r>
            <a:endParaRPr lang="en-US" sz="700" dirty="0"/>
          </a:p>
        </p:txBody>
      </p:sp>
      <p:sp>
        <p:nvSpPr>
          <p:cNvPr id="8" name="Shape 5"/>
          <p:cNvSpPr/>
          <p:nvPr/>
        </p:nvSpPr>
        <p:spPr>
          <a:xfrm>
            <a:off x="2514600" y="4114800"/>
            <a:ext cx="1965960" cy="594360"/>
          </a:xfrm>
          <a:prstGeom prst="rect">
            <a:avLst/>
          </a:prstGeom>
          <a:solidFill>
            <a:srgbClr val="0B18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2624328" y="4160520"/>
            <a:ext cx="17465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+552.4%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2624328" y="4480560"/>
            <a:ext cx="17465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kern="0" spc="300" dirty="0">
                <a:solidFill>
                  <a:srgbClr val="D9CF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BUY-AND-HOLD TOTAL RETURN</a:t>
            </a:r>
            <a:endParaRPr lang="en-US" sz="700" dirty="0"/>
          </a:p>
        </p:txBody>
      </p:sp>
      <p:sp>
        <p:nvSpPr>
          <p:cNvPr id="11" name="Shape 8"/>
          <p:cNvSpPr/>
          <p:nvPr/>
        </p:nvSpPr>
        <p:spPr>
          <a:xfrm>
            <a:off x="4572000" y="4114800"/>
            <a:ext cx="1965960" cy="594360"/>
          </a:xfrm>
          <a:prstGeom prst="rect">
            <a:avLst/>
          </a:prstGeom>
          <a:solidFill>
            <a:srgbClr val="0B18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4681728" y="4160520"/>
            <a:ext cx="17465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13.9%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681728" y="4480560"/>
            <a:ext cx="17465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kern="0" spc="300" dirty="0">
                <a:solidFill>
                  <a:srgbClr val="D9CF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 EXPOSURE</a:t>
            </a:r>
            <a:endParaRPr lang="en-US" sz="700" dirty="0"/>
          </a:p>
        </p:txBody>
      </p:sp>
      <p:sp>
        <p:nvSpPr>
          <p:cNvPr id="14" name="Shape 11"/>
          <p:cNvSpPr/>
          <p:nvPr/>
        </p:nvSpPr>
        <p:spPr>
          <a:xfrm>
            <a:off x="6629400" y="4114800"/>
            <a:ext cx="1965960" cy="594360"/>
          </a:xfrm>
          <a:prstGeom prst="rect">
            <a:avLst/>
          </a:prstGeom>
          <a:solidFill>
            <a:srgbClr val="0B18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6739128" y="4160520"/>
            <a:ext cx="17465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−23.6 pp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6739128" y="4480560"/>
            <a:ext cx="17465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kern="0" spc="300" dirty="0">
                <a:solidFill>
                  <a:srgbClr val="D9CF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DRAWDOWN IMPROVEMENT</a:t>
            </a:r>
            <a:endParaRPr lang="en-US" sz="700" dirty="0"/>
          </a:p>
        </p:txBody>
      </p:sp>
      <p:sp>
        <p:nvSpPr>
          <p:cNvPr id="17" name="Shape 14"/>
          <p:cNvSpPr/>
          <p:nvPr/>
        </p:nvSpPr>
        <p:spPr>
          <a:xfrm>
            <a:off x="457200" y="4754880"/>
            <a:ext cx="8229600" cy="0"/>
          </a:xfrm>
          <a:prstGeom prst="line">
            <a:avLst/>
          </a:prstGeom>
          <a:noFill/>
          <a:ln w="6350">
            <a:solidFill>
              <a:srgbClr val="D8CF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457200" y="4846320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3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BREADTH REVERSAL  //  CONFIDENTIAL — INSTITUTIONAL REVIEW ONLY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7589520" y="484632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kern="0" spc="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21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5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50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 //  PERFORMANCE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Return &amp; Trade-Level Statistics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32588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METRICS</a:t>
            </a:r>
            <a:endParaRPr lang="en-US" sz="9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00200"/>
          <a:ext cx="4114800" cy="160020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B6B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Compounded Return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1A2744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126.20%</a:t>
                      </a:r>
                      <a:endParaRPr lang="en-US" sz="11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B6B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Annualised Return (arithmetic)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1A2744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5.35%</a:t>
                      </a:r>
                      <a:endParaRPr lang="en-US" sz="11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B6B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CAGR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1A2744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5.22%</a:t>
                      </a:r>
                      <a:endParaRPr lang="en-US" sz="11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B6B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Exposure-Adjusted Ann. Return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1A2744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38.46%</a:t>
                      </a:r>
                      <a:endParaRPr lang="en-US" sz="11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B6B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Capital-Efficiency Ratio*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1A2744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9.07</a:t>
                      </a:r>
                      <a:endParaRPr lang="en-US" sz="11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329184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*Diagnostic only: Compound Return ÷ Exposure. </a:t>
            </a:r>
          </a:p>
          <a:p>
            <a:pPr marL="0" indent="0">
              <a:buNone/>
            </a:pPr>
            <a:r>
              <a:rPr lang="en-US" sz="8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9.07× capital-efficiency with 38.46% exposure-adjusted annualised return.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4846320" y="132588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 STATISTICS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4846320" y="1600200"/>
            <a:ext cx="182880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5DC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4846320" y="1600200"/>
            <a:ext cx="1828800" cy="36576"/>
          </a:xfrm>
          <a:prstGeom prst="rect">
            <a:avLst/>
          </a:prstGeom>
          <a:solidFill>
            <a:srgbClr val="C9A9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7"/>
          <p:cNvSpPr/>
          <p:nvPr/>
        </p:nvSpPr>
        <p:spPr>
          <a:xfrm>
            <a:off x="4983480" y="1709928"/>
            <a:ext cx="1554480" cy="4320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273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4983480" y="2141982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TRADES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4983480" y="234315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~17 / year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6812280" y="1600200"/>
            <a:ext cx="182880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5DC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6812280" y="1600200"/>
            <a:ext cx="1828800" cy="36576"/>
          </a:xfrm>
          <a:prstGeom prst="rect">
            <a:avLst/>
          </a:prstGeom>
          <a:solidFill>
            <a:srgbClr val="C9A9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6949440" y="1709928"/>
            <a:ext cx="1554480" cy="4320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70.7%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6949440" y="2141982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 RATE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6949440" y="234315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50% baseline</a:t>
            </a:r>
            <a:endParaRPr lang="en-US" sz="800" dirty="0"/>
          </a:p>
        </p:txBody>
      </p:sp>
      <p:sp>
        <p:nvSpPr>
          <p:cNvPr id="18" name="Shape 15"/>
          <p:cNvSpPr/>
          <p:nvPr/>
        </p:nvSpPr>
        <p:spPr>
          <a:xfrm>
            <a:off x="4846320" y="2697480"/>
            <a:ext cx="182880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5DC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4846320" y="2697480"/>
            <a:ext cx="1828800" cy="36576"/>
          </a:xfrm>
          <a:prstGeom prst="rect">
            <a:avLst/>
          </a:prstGeom>
          <a:solidFill>
            <a:srgbClr val="C9A9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4983480" y="2807208"/>
            <a:ext cx="1554480" cy="4320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1.99</a:t>
            </a:r>
            <a:endParaRPr lang="en-US" sz="2200" dirty="0"/>
          </a:p>
        </p:txBody>
      </p:sp>
      <p:sp>
        <p:nvSpPr>
          <p:cNvPr id="21" name="Text 18"/>
          <p:cNvSpPr/>
          <p:nvPr/>
        </p:nvSpPr>
        <p:spPr>
          <a:xfrm>
            <a:off x="4983480" y="3239262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FACTOR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4983480" y="344043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$1.99 won / $1 lost</a:t>
            </a:r>
            <a:endParaRPr lang="en-US" sz="800" dirty="0"/>
          </a:p>
        </p:txBody>
      </p:sp>
      <p:sp>
        <p:nvSpPr>
          <p:cNvPr id="23" name="Shape 20"/>
          <p:cNvSpPr/>
          <p:nvPr/>
        </p:nvSpPr>
        <p:spPr>
          <a:xfrm>
            <a:off x="6812280" y="2697480"/>
            <a:ext cx="182880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5DC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1"/>
          <p:cNvSpPr/>
          <p:nvPr/>
        </p:nvSpPr>
        <p:spPr>
          <a:xfrm>
            <a:off x="6812280" y="2697480"/>
            <a:ext cx="1828800" cy="36576"/>
          </a:xfrm>
          <a:prstGeom prst="rect">
            <a:avLst/>
          </a:prstGeom>
          <a:solidFill>
            <a:srgbClr val="C9A9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6949440" y="2807208"/>
            <a:ext cx="1554480" cy="4320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0.31%</a:t>
            </a:r>
            <a:endParaRPr lang="en-US" sz="2200" dirty="0"/>
          </a:p>
        </p:txBody>
      </p:sp>
      <p:sp>
        <p:nvSpPr>
          <p:cNvPr id="26" name="Text 23"/>
          <p:cNvSpPr/>
          <p:nvPr/>
        </p:nvSpPr>
        <p:spPr>
          <a:xfrm>
            <a:off x="6949440" y="3239262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RETURN / TRADE</a:t>
            </a:r>
            <a:endParaRPr lang="en-US" sz="800" dirty="0"/>
          </a:p>
        </p:txBody>
      </p:sp>
      <p:sp>
        <p:nvSpPr>
          <p:cNvPr id="27" name="Text 24"/>
          <p:cNvSpPr/>
          <p:nvPr/>
        </p:nvSpPr>
        <p:spPr>
          <a:xfrm>
            <a:off x="6949440" y="344043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1.64 ES points</a:t>
            </a:r>
            <a:endParaRPr lang="en-US" sz="800" dirty="0"/>
          </a:p>
        </p:txBody>
      </p:sp>
      <p:sp>
        <p:nvSpPr>
          <p:cNvPr id="28" name="Shape 25"/>
          <p:cNvSpPr/>
          <p:nvPr/>
        </p:nvSpPr>
        <p:spPr>
          <a:xfrm>
            <a:off x="4846320" y="3794760"/>
            <a:ext cx="3840480" cy="868680"/>
          </a:xfrm>
          <a:prstGeom prst="rect">
            <a:avLst/>
          </a:prstGeom>
          <a:solidFill>
            <a:srgbClr val="0B18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6"/>
          <p:cNvSpPr/>
          <p:nvPr/>
        </p:nvSpPr>
        <p:spPr>
          <a:xfrm>
            <a:off x="4846320" y="3794760"/>
            <a:ext cx="45720" cy="868680"/>
          </a:xfrm>
          <a:prstGeom prst="rect">
            <a:avLst/>
          </a:prstGeom>
          <a:solidFill>
            <a:srgbClr val="C9A9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7"/>
          <p:cNvSpPr/>
          <p:nvPr/>
        </p:nvSpPr>
        <p:spPr>
          <a:xfrm>
            <a:off x="4983480" y="3858768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EDGE IS BOTH DIRECTIONAL AND ASYMMETRIC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4983480" y="4096512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D9CF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70.7% win rate (direction) × 1.99 profit factor (asymmetry). ~17 trades/year fits naturally into an institutional operational risk framework — low turnover relative to intraday mean-reversion strategies.</a:t>
            </a:r>
            <a:endParaRPr lang="en-US" sz="900" dirty="0"/>
          </a:p>
        </p:txBody>
      </p:sp>
      <p:sp>
        <p:nvSpPr>
          <p:cNvPr id="32" name="Shape 29"/>
          <p:cNvSpPr/>
          <p:nvPr/>
        </p:nvSpPr>
        <p:spPr>
          <a:xfrm>
            <a:off x="457200" y="4754880"/>
            <a:ext cx="8229600" cy="0"/>
          </a:xfrm>
          <a:prstGeom prst="line">
            <a:avLst/>
          </a:prstGeom>
          <a:noFill/>
          <a:ln w="6350">
            <a:solidFill>
              <a:srgbClr val="D8CF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0"/>
          <p:cNvSpPr/>
          <p:nvPr/>
        </p:nvSpPr>
        <p:spPr>
          <a:xfrm>
            <a:off x="457200" y="4846320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3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BREADTH REVERSAL  //  CONFIDENTIAL — INSTITUTIONAL REVIEW ONLY</a:t>
            </a:r>
            <a:endParaRPr lang="en-US" sz="800" dirty="0"/>
          </a:p>
        </p:txBody>
      </p:sp>
      <p:sp>
        <p:nvSpPr>
          <p:cNvPr id="34" name="Text 31"/>
          <p:cNvSpPr/>
          <p:nvPr/>
        </p:nvSpPr>
        <p:spPr>
          <a:xfrm>
            <a:off x="7589520" y="484632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kern="0" spc="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21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5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50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 //  RISK-ADJUSTED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Sharpe, Deployment &amp; Volatility Profile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Sharpe (0.55)</a:t>
            </a:r>
            <a:r>
              <a:rPr lang="en-US" sz="1000" dirty="0">
                <a:solidFill>
                  <a:srgbClr val="2C3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uses total-capital annualised return minus the time-varying FF daily risk-free rate (2010–26 avg: 1.41%). </a:t>
            </a:r>
            <a:r>
              <a:rPr lang="en-US" sz="10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Active-Day Sharpe (2.13)</a:t>
            </a:r>
            <a:r>
              <a:rPr lang="en-US" sz="1000" dirty="0">
                <a:solidFill>
                  <a:srgbClr val="2C3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measures the quality of the edge conditional on being invested. The gap reflects 13.9% time-in-market.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2194560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SHARPE COMPARISON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697480" y="2468880"/>
            <a:ext cx="0" cy="1755648"/>
          </a:xfrm>
          <a:prstGeom prst="line">
            <a:avLst/>
          </a:prstGeom>
          <a:noFill/>
          <a:ln w="6350">
            <a:solidFill>
              <a:srgbClr val="6B6B6B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251460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2C3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Active-Day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697480" y="2551176"/>
            <a:ext cx="2074694" cy="256032"/>
          </a:xfrm>
          <a:prstGeom prst="rect">
            <a:avLst/>
          </a:prstGeom>
          <a:solidFill>
            <a:srgbClr val="C9A9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817894" y="255117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2.13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295351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2C3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B&amp;H ES (true)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697480" y="2990088"/>
            <a:ext cx="662344" cy="256032"/>
          </a:xfrm>
          <a:prstGeom prst="rect">
            <a:avLst/>
          </a:prstGeom>
          <a:solidFill>
            <a:srgbClr val="1E2E5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405544" y="299008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0.68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" y="3392424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2C3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 (true)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697480" y="3429000"/>
            <a:ext cx="535719" cy="256032"/>
          </a:xfrm>
          <a:prstGeom prst="rect">
            <a:avLst/>
          </a:prstGeom>
          <a:solidFill>
            <a:srgbClr val="0B18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278919" y="342900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0.55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3831336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2C3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 vs B&amp;H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298126" y="3867912"/>
            <a:ext cx="399354" cy="256032"/>
          </a:xfrm>
          <a:prstGeom prst="rect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1795206" y="386791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-0.41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760720" y="1325880"/>
            <a:ext cx="292608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5DC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5760720" y="1325880"/>
            <a:ext cx="36576" cy="548640"/>
          </a:xfrm>
          <a:prstGeom prst="rect">
            <a:avLst/>
          </a:prstGeom>
          <a:solidFill>
            <a:srgbClr val="C9A9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852160" y="1399032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2.13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903720" y="1399032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ACTIVE-DAY SHARPE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6903720" y="16002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in-market only; true signal quality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5760720" y="1947672"/>
            <a:ext cx="292608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5DC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5760720" y="1947672"/>
            <a:ext cx="36576" cy="548640"/>
          </a:xfrm>
          <a:prstGeom prst="rect">
            <a:avLst/>
          </a:prstGeom>
          <a:solidFill>
            <a:srgbClr val="C9A9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852160" y="2020824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0.55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6903720" y="2020824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SHARPE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6903720" y="222199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full-series, vs 0.68 for B&amp;H ES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5760720" y="2569464"/>
            <a:ext cx="292608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5DC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5760720" y="2569464"/>
            <a:ext cx="36576" cy="548640"/>
          </a:xfrm>
          <a:prstGeom prst="rect">
            <a:avLst/>
          </a:prstGeom>
          <a:solidFill>
            <a:srgbClr val="C9A9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5852160" y="2642616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38.46%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6903720" y="2642616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EXPOSURE-ADJ. ANN. RETURN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6903720" y="2843784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diagnostic (not a Sharpe)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5760720" y="3191256"/>
            <a:ext cx="292608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5DC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5760720" y="3191256"/>
            <a:ext cx="36576" cy="548640"/>
          </a:xfrm>
          <a:prstGeom prst="rect">
            <a:avLst/>
          </a:prstGeom>
          <a:solidFill>
            <a:srgbClr val="C9A9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5852160" y="3264408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7.20%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6903720" y="3264408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ANNUALISED VOLATILITY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6903720" y="3465576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full-series; 2.4× below B&amp;H ES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5760720" y="3813048"/>
            <a:ext cx="292608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5DC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5760720" y="3813048"/>
            <a:ext cx="36576" cy="548640"/>
          </a:xfrm>
          <a:prstGeom prst="rect">
            <a:avLst/>
          </a:prstGeom>
          <a:solidFill>
            <a:srgbClr val="C9A9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5852160" y="3886200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14.72%</a:t>
            </a:r>
            <a:endParaRPr lang="en-US" sz="1800" dirty="0"/>
          </a:p>
        </p:txBody>
      </p:sp>
      <p:sp>
        <p:nvSpPr>
          <p:cNvPr id="42" name="Text 40"/>
          <p:cNvSpPr/>
          <p:nvPr/>
        </p:nvSpPr>
        <p:spPr>
          <a:xfrm>
            <a:off x="6903720" y="3886200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DOWNSIDE DEVIATION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6903720" y="408736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active-day only, annualised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457200" y="4754880"/>
            <a:ext cx="8229600" cy="0"/>
          </a:xfrm>
          <a:prstGeom prst="line">
            <a:avLst/>
          </a:prstGeom>
          <a:noFill/>
          <a:ln w="6350">
            <a:solidFill>
              <a:srgbClr val="D8CF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457200" y="4846320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3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BREADTH REVERSAL  //  CONFIDENTIAL — INSTITUTIONAL REVIEW ONLY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7589520" y="484632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kern="0" spc="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21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5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50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 //  DOWNSIDE PROFILE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Drawdown Analysis &amp; Tail Risk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325880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DRAWDOWN — STRATEGY VS BUY-AND-HOLD</a:t>
            </a:r>
            <a:endParaRPr lang="en-US" sz="9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457200" y="1600200"/>
          <a:ext cx="5029200" cy="2194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457200" y="3931920"/>
            <a:ext cx="5029200" cy="685800"/>
          </a:xfrm>
          <a:prstGeom prst="rect">
            <a:avLst/>
          </a:prstGeom>
          <a:solidFill>
            <a:srgbClr val="0B18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640080" y="4005072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~3.2×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1965960" y="402336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DRAWDOWN IMPROVEMENT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9CF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Strategy: 10.83% max DD  //  B&amp;H: 34.45% max DD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5760720" y="1325880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 RISK  //  ACTIVE DAYS</a:t>
            </a:r>
            <a:endParaRPr lang="en-US" sz="9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760720" y="1600200"/>
          <a:ext cx="2926080" cy="1463040"/>
        </p:xfrm>
        <a:graphic>
          <a:graphicData uri="http://schemas.openxmlformats.org/drawingml/2006/table">
            <a:tbl>
              <a:tblPr/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E5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kern="0" spc="200" dirty="0">
                          <a:solidFill>
                            <a:srgbClr val="C9A961"/>
                          </a:solidFill>
                        </a:rPr>
                        <a:t>PARAM.</a:t>
                      </a:r>
                      <a:endParaRPr lang="en-US" sz="800" dirty="0"/>
                    </a:p>
                  </a:txBody>
                  <a:tcPr anchor="ctr">
                    <a:lnL w="6350" cap="flat" cmpd="sng" algn="ctr">
                      <a:solidFill>
                        <a:srgbClr val="E5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kern="0" spc="200" dirty="0">
                          <a:solidFill>
                            <a:srgbClr val="C9A961"/>
                          </a:solidFill>
                        </a:rPr>
                        <a:t>HIST.</a:t>
                      </a:r>
                      <a:endParaRPr lang="en-US" sz="800" dirty="0"/>
                    </a:p>
                  </a:txBody>
                  <a:tcPr anchor="ctr">
                    <a:lnL w="6350" cap="flat" cmpd="sng" algn="ctr">
                      <a:solidFill>
                        <a:srgbClr val="E5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2744"/>
                          </a:solidFill>
                        </a:rPr>
                        <a:t>VaR 95%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E5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744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1.82%</a:t>
                      </a:r>
                      <a:endParaRPr lang="en-US" sz="10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744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1.76%</a:t>
                      </a:r>
                      <a:endParaRPr lang="en-US" sz="10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2744"/>
                          </a:solidFill>
                        </a:rPr>
                        <a:t>VaR 99%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E5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744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2.65%</a:t>
                      </a:r>
                      <a:endParaRPr lang="en-US" sz="10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B85042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3.52%</a:t>
                      </a:r>
                      <a:endParaRPr lang="en-US" sz="10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2744"/>
                          </a:solidFill>
                        </a:rPr>
                        <a:t>CVaR 95%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E5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744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2.33%</a:t>
                      </a:r>
                      <a:endParaRPr lang="en-US" sz="10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744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2.78%</a:t>
                      </a:r>
                      <a:endParaRPr lang="en-US" sz="10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A2744"/>
                          </a:solidFill>
                        </a:rPr>
                        <a:t>CVaR 99%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E5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744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3.06%</a:t>
                      </a:r>
                      <a:endParaRPr lang="en-US" sz="10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B85042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4.39%</a:t>
                      </a:r>
                      <a:endParaRPr lang="en-US" sz="11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5760720" y="3520440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00" i="1" dirty="0">
                <a:solidFill>
                  <a:srgbClr val="2C3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 between parametric and historical 99% VaR (2.65% vs 3.52%) signals fat left tails — a familiar feature of equity reversal strategies. Historical CVaR 99% of 4.39% is the conservative summary of active-day tail loss.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457200" y="4754880"/>
            <a:ext cx="8229600" cy="0"/>
          </a:xfrm>
          <a:prstGeom prst="line">
            <a:avLst/>
          </a:prstGeom>
          <a:noFill/>
          <a:ln w="6350">
            <a:solidFill>
              <a:srgbClr val="D8CF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9"/>
          <p:cNvSpPr/>
          <p:nvPr/>
        </p:nvSpPr>
        <p:spPr>
          <a:xfrm>
            <a:off x="457200" y="4846320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3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BREADTH REVERSAL  //  CONFIDENTIAL — INSTITUTIONAL REVIEW ONLY</a:t>
            </a:r>
            <a:endParaRPr lang="en-US" sz="800" dirty="0"/>
          </a:p>
        </p:txBody>
      </p:sp>
      <p:sp>
        <p:nvSpPr>
          <p:cNvPr id="14" name="Text 10"/>
          <p:cNvSpPr/>
          <p:nvPr/>
        </p:nvSpPr>
        <p:spPr>
          <a:xfrm>
            <a:off x="7589520" y="484632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kern="0" spc="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21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5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50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 //  DISTRIBUTION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Monthly Performance — 193 Months of Data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96596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5DC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1965960" cy="36576"/>
          </a:xfrm>
          <a:prstGeom prst="rect">
            <a:avLst/>
          </a:prstGeom>
          <a:solidFill>
            <a:srgbClr val="C9A9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141732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4F7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+7.41%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48640" y="1755648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MONTH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48640" y="1920240"/>
            <a:ext cx="1783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 2025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514600" y="1325880"/>
            <a:ext cx="196596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5DC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514600" y="1325880"/>
            <a:ext cx="1965960" cy="36576"/>
          </a:xfrm>
          <a:prstGeom prst="rect">
            <a:avLst/>
          </a:prstGeom>
          <a:solidFill>
            <a:srgbClr val="C9A9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606040" y="141732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−7.23%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2606040" y="1755648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WORST MONTH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2606040" y="1920240"/>
            <a:ext cx="1783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Feb 2018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4572000" y="1325880"/>
            <a:ext cx="196596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5DC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572000" y="1325880"/>
            <a:ext cx="1965960" cy="36576"/>
          </a:xfrm>
          <a:prstGeom prst="rect">
            <a:avLst/>
          </a:prstGeom>
          <a:solidFill>
            <a:srgbClr val="C9A9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663440" y="141732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60.1%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4663440" y="1755648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WINNING MONTHS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4663440" y="1920240"/>
            <a:ext cx="1783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116 of 193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6629400" y="1325880"/>
            <a:ext cx="196596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5DC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629400" y="1325880"/>
            <a:ext cx="1965960" cy="36576"/>
          </a:xfrm>
          <a:prstGeom prst="rect">
            <a:avLst/>
          </a:prstGeom>
          <a:solidFill>
            <a:srgbClr val="C9A9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720840" y="141732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+0.44%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6720840" y="1755648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MONTH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6720840" y="1920240"/>
            <a:ext cx="1783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drift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457200" y="2240280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 OF MONTHLY RETURNS</a:t>
            </a:r>
            <a:endParaRPr lang="en-US" sz="900" dirty="0"/>
          </a:p>
        </p:txBody>
      </p:sp>
      <p:graphicFrame>
        <p:nvGraphicFramePr>
          <p:cNvPr id="25" name="Chart 0"/>
          <p:cNvGraphicFramePr/>
          <p:nvPr/>
        </p:nvGraphicFramePr>
        <p:xfrm>
          <a:off x="457200" y="2514600"/>
          <a:ext cx="5029200" cy="2103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6" name="Text 23"/>
          <p:cNvSpPr/>
          <p:nvPr/>
        </p:nvSpPr>
        <p:spPr>
          <a:xfrm>
            <a:off x="5760720" y="2240280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 SHINES IN POST-SHOCK REBOUNDS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5760720" y="2926080"/>
            <a:ext cx="2926080" cy="0"/>
          </a:xfrm>
          <a:prstGeom prst="line">
            <a:avLst/>
          </a:prstGeom>
          <a:noFill/>
          <a:ln w="6350">
            <a:solidFill>
              <a:srgbClr val="E5DC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5"/>
          <p:cNvSpPr/>
          <p:nvPr/>
        </p:nvSpPr>
        <p:spPr>
          <a:xfrm>
            <a:off x="5760720" y="2542032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 2025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6766560" y="2542032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F7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+7.4%</a:t>
            </a:r>
            <a:endParaRPr lang="en-US" sz="1300" dirty="0"/>
          </a:p>
        </p:txBody>
      </p:sp>
      <p:sp>
        <p:nvSpPr>
          <p:cNvPr id="30" name="Text 27"/>
          <p:cNvSpPr/>
          <p:nvPr/>
        </p:nvSpPr>
        <p:spPr>
          <a:xfrm>
            <a:off x="7406640" y="2542032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2C3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Tariff-tantrum rebound</a:t>
            </a:r>
            <a:endParaRPr lang="en-US" sz="900" dirty="0"/>
          </a:p>
        </p:txBody>
      </p:sp>
      <p:sp>
        <p:nvSpPr>
          <p:cNvPr id="31" name="Shape 28"/>
          <p:cNvSpPr/>
          <p:nvPr/>
        </p:nvSpPr>
        <p:spPr>
          <a:xfrm>
            <a:off x="5760720" y="3346704"/>
            <a:ext cx="2926080" cy="0"/>
          </a:xfrm>
          <a:prstGeom prst="line">
            <a:avLst/>
          </a:prstGeom>
          <a:noFill/>
          <a:ln w="6350">
            <a:solidFill>
              <a:srgbClr val="E5DC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29"/>
          <p:cNvSpPr/>
          <p:nvPr/>
        </p:nvSpPr>
        <p:spPr>
          <a:xfrm>
            <a:off x="5760720" y="2962656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 2011</a:t>
            </a:r>
            <a:endParaRPr lang="en-US" sz="1000" dirty="0"/>
          </a:p>
        </p:txBody>
      </p:sp>
      <p:sp>
        <p:nvSpPr>
          <p:cNvPr id="33" name="Text 30"/>
          <p:cNvSpPr/>
          <p:nvPr/>
        </p:nvSpPr>
        <p:spPr>
          <a:xfrm>
            <a:off x="6766560" y="2962656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F7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+6.5%</a:t>
            </a:r>
            <a:endParaRPr lang="en-US" sz="1300" dirty="0"/>
          </a:p>
        </p:txBody>
      </p:sp>
      <p:sp>
        <p:nvSpPr>
          <p:cNvPr id="34" name="Text 31"/>
          <p:cNvSpPr/>
          <p:nvPr/>
        </p:nvSpPr>
        <p:spPr>
          <a:xfrm>
            <a:off x="7406640" y="2962656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2C3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 sovereign crisis</a:t>
            </a:r>
            <a:endParaRPr lang="en-US" sz="900" dirty="0"/>
          </a:p>
        </p:txBody>
      </p:sp>
      <p:sp>
        <p:nvSpPr>
          <p:cNvPr id="35" name="Shape 32"/>
          <p:cNvSpPr/>
          <p:nvPr/>
        </p:nvSpPr>
        <p:spPr>
          <a:xfrm>
            <a:off x="5760720" y="3767328"/>
            <a:ext cx="2926080" cy="0"/>
          </a:xfrm>
          <a:prstGeom prst="line">
            <a:avLst/>
          </a:prstGeom>
          <a:noFill/>
          <a:ln w="6350">
            <a:solidFill>
              <a:srgbClr val="E5DC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3"/>
          <p:cNvSpPr/>
          <p:nvPr/>
        </p:nvSpPr>
        <p:spPr>
          <a:xfrm>
            <a:off x="5760720" y="3383280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 2010</a:t>
            </a:r>
            <a:endParaRPr lang="en-US" sz="1000" dirty="0"/>
          </a:p>
        </p:txBody>
      </p:sp>
      <p:sp>
        <p:nvSpPr>
          <p:cNvPr id="37" name="Text 34"/>
          <p:cNvSpPr/>
          <p:nvPr/>
        </p:nvSpPr>
        <p:spPr>
          <a:xfrm>
            <a:off x="6766560" y="3383280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F7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+5.7%</a:t>
            </a:r>
            <a:endParaRPr lang="en-US" sz="1300" dirty="0"/>
          </a:p>
        </p:txBody>
      </p:sp>
      <p:sp>
        <p:nvSpPr>
          <p:cNvPr id="38" name="Text 35"/>
          <p:cNvSpPr/>
          <p:nvPr/>
        </p:nvSpPr>
        <p:spPr>
          <a:xfrm>
            <a:off x="7406640" y="338328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2C3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Flash-crash aftermath</a:t>
            </a:r>
            <a:endParaRPr lang="en-US" sz="900" dirty="0"/>
          </a:p>
        </p:txBody>
      </p:sp>
      <p:sp>
        <p:nvSpPr>
          <p:cNvPr id="39" name="Shape 36"/>
          <p:cNvSpPr/>
          <p:nvPr/>
        </p:nvSpPr>
        <p:spPr>
          <a:xfrm>
            <a:off x="5760720" y="4187952"/>
            <a:ext cx="2926080" cy="0"/>
          </a:xfrm>
          <a:prstGeom prst="line">
            <a:avLst/>
          </a:prstGeom>
          <a:noFill/>
          <a:ln w="6350">
            <a:solidFill>
              <a:srgbClr val="E5DC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7"/>
          <p:cNvSpPr/>
          <p:nvPr/>
        </p:nvSpPr>
        <p:spPr>
          <a:xfrm>
            <a:off x="5760720" y="3803904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 2011</a:t>
            </a:r>
            <a:endParaRPr lang="en-US" sz="1000" dirty="0"/>
          </a:p>
        </p:txBody>
      </p:sp>
      <p:sp>
        <p:nvSpPr>
          <p:cNvPr id="41" name="Text 38"/>
          <p:cNvSpPr/>
          <p:nvPr/>
        </p:nvSpPr>
        <p:spPr>
          <a:xfrm>
            <a:off x="6766560" y="3803904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F7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+4.4%</a:t>
            </a:r>
            <a:endParaRPr lang="en-US" sz="1300" dirty="0"/>
          </a:p>
        </p:txBody>
      </p:sp>
      <p:sp>
        <p:nvSpPr>
          <p:cNvPr id="42" name="Text 39"/>
          <p:cNvSpPr/>
          <p:nvPr/>
        </p:nvSpPr>
        <p:spPr>
          <a:xfrm>
            <a:off x="7406640" y="3803904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2C3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Sovereign worry reversal</a:t>
            </a:r>
            <a:endParaRPr lang="en-US" sz="900" dirty="0"/>
          </a:p>
        </p:txBody>
      </p:sp>
      <p:sp>
        <p:nvSpPr>
          <p:cNvPr id="43" name="Shape 40"/>
          <p:cNvSpPr/>
          <p:nvPr/>
        </p:nvSpPr>
        <p:spPr>
          <a:xfrm>
            <a:off x="5760720" y="4608576"/>
            <a:ext cx="2926080" cy="0"/>
          </a:xfrm>
          <a:prstGeom prst="line">
            <a:avLst/>
          </a:prstGeom>
          <a:noFill/>
          <a:ln w="6350">
            <a:solidFill>
              <a:srgbClr val="E5DC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1"/>
          <p:cNvSpPr/>
          <p:nvPr/>
        </p:nvSpPr>
        <p:spPr>
          <a:xfrm>
            <a:off x="5760720" y="4224528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2020</a:t>
            </a:r>
            <a:endParaRPr lang="en-US" sz="1000" dirty="0"/>
          </a:p>
        </p:txBody>
      </p:sp>
      <p:sp>
        <p:nvSpPr>
          <p:cNvPr id="45" name="Text 42"/>
          <p:cNvSpPr/>
          <p:nvPr/>
        </p:nvSpPr>
        <p:spPr>
          <a:xfrm>
            <a:off x="6766560" y="4224528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F7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+4.3%</a:t>
            </a:r>
            <a:endParaRPr lang="en-US" sz="1300" dirty="0"/>
          </a:p>
        </p:txBody>
      </p:sp>
      <p:sp>
        <p:nvSpPr>
          <p:cNvPr id="46" name="Text 43"/>
          <p:cNvSpPr/>
          <p:nvPr/>
        </p:nvSpPr>
        <p:spPr>
          <a:xfrm>
            <a:off x="7406640" y="4224528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2C3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COVID recovery rally</a:t>
            </a:r>
            <a:endParaRPr lang="en-US" sz="900" dirty="0"/>
          </a:p>
        </p:txBody>
      </p:sp>
      <p:sp>
        <p:nvSpPr>
          <p:cNvPr id="47" name="Shape 44"/>
          <p:cNvSpPr/>
          <p:nvPr/>
        </p:nvSpPr>
        <p:spPr>
          <a:xfrm>
            <a:off x="457200" y="4754880"/>
            <a:ext cx="8229600" cy="0"/>
          </a:xfrm>
          <a:prstGeom prst="line">
            <a:avLst/>
          </a:prstGeom>
          <a:noFill/>
          <a:ln w="6350">
            <a:solidFill>
              <a:srgbClr val="D8CF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5"/>
          <p:cNvSpPr/>
          <p:nvPr/>
        </p:nvSpPr>
        <p:spPr>
          <a:xfrm>
            <a:off x="457200" y="4846320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3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BREADTH REVERSAL  //  CONFIDENTIAL — INSTITUTIONAL REVIEW ONLY</a:t>
            </a:r>
            <a:endParaRPr lang="en-US" sz="800" dirty="0"/>
          </a:p>
        </p:txBody>
      </p:sp>
      <p:sp>
        <p:nvSpPr>
          <p:cNvPr id="49" name="Text 46"/>
          <p:cNvSpPr/>
          <p:nvPr/>
        </p:nvSpPr>
        <p:spPr>
          <a:xfrm>
            <a:off x="7589520" y="484632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kern="0" spc="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21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5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50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 //  FACTOR ATTRIBUTION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CAPM &amp; Fama–French 3 with HAC SEs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8229600" cy="457200"/>
          </a:xfrm>
          <a:prstGeom prst="rect">
            <a:avLst/>
          </a:prstGeom>
          <a:solidFill>
            <a:srgbClr val="0B18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94360" y="132588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NEWEY–WEST HAC STANDARD ERRORS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94360" y="1508760"/>
            <a:ext cx="7955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D9CF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Plug-in bandwidth L = ⌈4(T/100)²ᐟ⁹⌉ = 10 lags. Under HAC, market-beta t-stat drops from 27 (OLS) → 5.8 — credible inference in the presence of serial correlation.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87452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ANNUALISED ALPHA  //  HAC</a:t>
            </a:r>
            <a:endParaRPr lang="en-US" sz="900" dirty="0"/>
          </a:p>
        </p:txBody>
      </p:sp>
      <p:graphicFrame>
        <p:nvGraphicFramePr>
          <p:cNvPr id="8" name="Chart 0"/>
          <p:cNvGraphicFramePr/>
          <p:nvPr/>
        </p:nvGraphicFramePr>
        <p:xfrm>
          <a:off x="457200" y="2148840"/>
          <a:ext cx="4114800" cy="1645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Text 6"/>
          <p:cNvSpPr/>
          <p:nvPr/>
        </p:nvSpPr>
        <p:spPr>
          <a:xfrm>
            <a:off x="457200" y="3794760"/>
            <a:ext cx="2057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 = 1.11  (p = 0.27)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2514600" y="3794760"/>
            <a:ext cx="2057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 = 1.01  (p = 0.32)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457200" y="4041648"/>
            <a:ext cx="41148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00" i="1" dirty="0">
                <a:solidFill>
                  <a:srgbClr val="2C3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 is economically positive, statistically inconclusive at 5% (HAC). Under Bonferroni across 6 tests (p &lt; 0.0083), no specification clears the threshold.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4846320" y="187452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RESULTS</a:t>
            </a:r>
            <a:endParaRPr lang="en-US" sz="9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46320" y="2148840"/>
          <a:ext cx="3840480" cy="2139696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377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8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kern="0" spc="200" dirty="0">
                          <a:solidFill>
                            <a:srgbClr val="C9A9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8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kern="0" spc="200" dirty="0">
                          <a:solidFill>
                            <a:srgbClr val="C9A9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FF3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8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6B6B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Alpha (ann. %)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A2744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1.75</a:t>
                      </a:r>
                      <a:endParaRPr lang="en-US" sz="9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A2744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1.59</a:t>
                      </a:r>
                      <a:endParaRPr lang="en-US" sz="9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6B6B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HAC t (alpha)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i="1" dirty="0">
                          <a:solidFill>
                            <a:srgbClr val="1A27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i="1" dirty="0">
                          <a:solidFill>
                            <a:srgbClr val="1A27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6B6B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Mkt–RF β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27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0.161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27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0.169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6B6B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HAC t (Mkt–RF)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i="1" dirty="0">
                          <a:solidFill>
                            <a:srgbClr val="4F7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5.80 ***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i="1" dirty="0">
                          <a:solidFill>
                            <a:srgbClr val="4F7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5.80 ***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6B6B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SMB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27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27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−0.053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6B6B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HAC t (SMB)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i="1" dirty="0">
                          <a:solidFill>
                            <a:srgbClr val="1A27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i="1" dirty="0">
                          <a:solidFill>
                            <a:srgbClr val="4F7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−2.70 **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6B6B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HML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27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27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−0.007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6B6B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R²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C9A9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0.158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C9A9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0.163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3" name="Text 10"/>
          <p:cNvSpPr/>
          <p:nvPr/>
        </p:nvSpPr>
        <p:spPr>
          <a:xfrm>
            <a:off x="4846320" y="4343400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= 4,038 daily obs  ·  *** p &lt; 0.001  //  ** p &lt; 0.01</a:t>
            </a:r>
            <a:endParaRPr lang="en-US" sz="700" dirty="0"/>
          </a:p>
        </p:txBody>
      </p:sp>
      <p:sp>
        <p:nvSpPr>
          <p:cNvPr id="15" name="Shape 11"/>
          <p:cNvSpPr/>
          <p:nvPr/>
        </p:nvSpPr>
        <p:spPr>
          <a:xfrm>
            <a:off x="457200" y="4754880"/>
            <a:ext cx="8229600" cy="0"/>
          </a:xfrm>
          <a:prstGeom prst="line">
            <a:avLst/>
          </a:prstGeom>
          <a:noFill/>
          <a:ln w="6350">
            <a:solidFill>
              <a:srgbClr val="D8CF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2"/>
          <p:cNvSpPr/>
          <p:nvPr/>
        </p:nvSpPr>
        <p:spPr>
          <a:xfrm>
            <a:off x="457200" y="4846320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3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BREADTH REVERSAL  //  CONFIDENTIAL — INSTITUTIONAL REVIEW ONLY</a:t>
            </a:r>
            <a:endParaRPr lang="en-US" sz="800" dirty="0"/>
          </a:p>
        </p:txBody>
      </p:sp>
      <p:sp>
        <p:nvSpPr>
          <p:cNvPr id="17" name="Text 13"/>
          <p:cNvSpPr/>
          <p:nvPr/>
        </p:nvSpPr>
        <p:spPr>
          <a:xfrm>
            <a:off x="7589520" y="484632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kern="0" spc="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21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5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50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 //  THE HONEST VIEW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the Factor Model Is Really Telling Us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8229600" cy="685800"/>
          </a:xfrm>
          <a:prstGeom prst="rect">
            <a:avLst/>
          </a:prstGeom>
          <a:solidFill>
            <a:srgbClr val="0B18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45720" cy="685800"/>
          </a:xfrm>
          <a:prstGeom prst="rect">
            <a:avLst/>
          </a:prstGeom>
          <a:solidFill>
            <a:srgbClr val="C9A9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40080" y="1371600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"A low-beta, mildly size-tilted, conservatively-invested return stream with positive but statistically inconclusive alpha. Evaluate it as a diversifier, not a pure-alpha engine."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148840"/>
            <a:ext cx="2697480" cy="2468880"/>
          </a:xfrm>
          <a:prstGeom prst="rect">
            <a:avLst/>
          </a:prstGeom>
          <a:solidFill>
            <a:srgbClr val="FFFFFF"/>
          </a:solidFill>
          <a:ln w="6350">
            <a:solidFill>
              <a:srgbClr val="E5DC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57200" y="2148840"/>
            <a:ext cx="2697480" cy="45720"/>
          </a:xfrm>
          <a:prstGeom prst="rect">
            <a:avLst/>
          </a:prstGeom>
          <a:solidFill>
            <a:srgbClr val="C9A9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40080" y="237744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+1.59% to +1.75%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40080" y="297180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 IS POSITIVE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40080" y="3291840"/>
            <a:ext cx="2331720" cy="0"/>
          </a:xfrm>
          <a:prstGeom prst="line">
            <a:avLst/>
          </a:prstGeom>
          <a:noFill/>
          <a:ln w="6350">
            <a:solidFill>
              <a:srgbClr val="E5DC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40080" y="3383280"/>
            <a:ext cx="23317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2C3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Remarkably stable as factors are added (CAPM → FF3 drop of only 16 bps). If alpha were a mechanical factor proxy, it would collapse. It does not.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23260" y="2148840"/>
            <a:ext cx="2697480" cy="2468880"/>
          </a:xfrm>
          <a:prstGeom prst="rect">
            <a:avLst/>
          </a:prstGeom>
          <a:solidFill>
            <a:srgbClr val="FFFFFF"/>
          </a:solidFill>
          <a:ln w="6350">
            <a:solidFill>
              <a:srgbClr val="E5DC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223260" y="2148840"/>
            <a:ext cx="2697480" cy="45720"/>
          </a:xfrm>
          <a:prstGeom prst="rect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406140" y="237744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 = 1.01 to 1.11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3406140" y="297180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STATISTICALLY SIGNIFICANT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406140" y="3291840"/>
            <a:ext cx="2331720" cy="0"/>
          </a:xfrm>
          <a:prstGeom prst="line">
            <a:avLst/>
          </a:prstGeom>
          <a:noFill/>
          <a:ln w="6350">
            <a:solidFill>
              <a:srgbClr val="E5DC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406140" y="3383280"/>
            <a:ext cx="23317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2C3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HAC, null of zero alpha cannot be rejected at 5% in any specification. Under Bonferroni across 6 tests, none clear p &lt; 0.0083. Update toward sample-luck.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989320" y="2148840"/>
            <a:ext cx="2697480" cy="2468880"/>
          </a:xfrm>
          <a:prstGeom prst="rect">
            <a:avLst/>
          </a:prstGeom>
          <a:solidFill>
            <a:srgbClr val="FFFFFF"/>
          </a:solidFill>
          <a:ln w="6350">
            <a:solidFill>
              <a:srgbClr val="E5DC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5989320" y="2148840"/>
            <a:ext cx="2697480" cy="45720"/>
          </a:xfrm>
          <a:prstGeom prst="rect">
            <a:avLst/>
          </a:prstGeom>
          <a:solidFill>
            <a:srgbClr val="C9A9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172200" y="237744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R² ≈ 16%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6172200" y="297180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DIVERSIFYING RETURN STREAM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172200" y="3291840"/>
            <a:ext cx="2331720" cy="0"/>
          </a:xfrm>
          <a:prstGeom prst="line">
            <a:avLst/>
          </a:prstGeom>
          <a:noFill/>
          <a:ln w="6350">
            <a:solidFill>
              <a:srgbClr val="E5DC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172200" y="3383280"/>
            <a:ext cx="23317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2C3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~84% of daily variance is unexplained by factors. Good news for portfolio diversification; a warning for out-of-sample dependence. Walk-forward is our primary OOS check.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7200" y="4754880"/>
            <a:ext cx="8229600" cy="0"/>
          </a:xfrm>
          <a:prstGeom prst="line">
            <a:avLst/>
          </a:prstGeom>
          <a:noFill/>
          <a:ln w="6350">
            <a:solidFill>
              <a:srgbClr val="D8CF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57200" y="4846320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3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BREADTH REVERSAL  //  CONFIDENTIAL — INSTITUTIONAL REVIEW ONLY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7589520" y="484632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kern="0" spc="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21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5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50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 //  ROBUSTNESS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Walk-Forward &amp; Lookback Sensitivity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2C3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parameters were selected with historical data in hand. Walk-forward (5yr IS / 1yr OOS) and lookback sensitivity provide out-of-sample evidence the edge is not purely an artifact of in-sample tuning.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783080"/>
            <a:ext cx="1965960" cy="777240"/>
          </a:xfrm>
          <a:prstGeom prst="rect">
            <a:avLst/>
          </a:prstGeom>
          <a:solidFill>
            <a:srgbClr val="0B18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66928" y="1856232"/>
            <a:ext cx="17465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0.86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66928" y="2221992"/>
            <a:ext cx="17465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D4B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OOS SHARPE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66928" y="2386584"/>
            <a:ext cx="174650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8A8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11 OOS years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2514600" y="1783080"/>
            <a:ext cx="1965960" cy="777240"/>
          </a:xfrm>
          <a:prstGeom prst="rect">
            <a:avLst/>
          </a:prstGeom>
          <a:solidFill>
            <a:srgbClr val="0B18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624328" y="1856232"/>
            <a:ext cx="17465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0.90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624328" y="2221992"/>
            <a:ext cx="17465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D4B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OOS SHARPE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2624328" y="2386584"/>
            <a:ext cx="174650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8A8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 to outliers</a:t>
            </a:r>
            <a:endParaRPr lang="en-US" sz="700" dirty="0"/>
          </a:p>
        </p:txBody>
      </p:sp>
      <p:sp>
        <p:nvSpPr>
          <p:cNvPr id="13" name="Shape 11"/>
          <p:cNvSpPr/>
          <p:nvPr/>
        </p:nvSpPr>
        <p:spPr>
          <a:xfrm>
            <a:off x="4572000" y="1783080"/>
            <a:ext cx="1965960" cy="777240"/>
          </a:xfrm>
          <a:prstGeom prst="rect">
            <a:avLst/>
          </a:prstGeom>
          <a:solidFill>
            <a:srgbClr val="0B18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681728" y="1856232"/>
            <a:ext cx="17465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82%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4681728" y="2221992"/>
            <a:ext cx="17465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D4B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OOS YEARS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681728" y="2386584"/>
            <a:ext cx="174650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8A8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of 11</a:t>
            </a:r>
            <a:endParaRPr lang="en-US" sz="700" dirty="0"/>
          </a:p>
        </p:txBody>
      </p:sp>
      <p:sp>
        <p:nvSpPr>
          <p:cNvPr id="17" name="Shape 15"/>
          <p:cNvSpPr/>
          <p:nvPr/>
        </p:nvSpPr>
        <p:spPr>
          <a:xfrm>
            <a:off x="6629400" y="1783080"/>
            <a:ext cx="1965960" cy="777240"/>
          </a:xfrm>
          <a:prstGeom prst="rect">
            <a:avLst/>
          </a:prstGeom>
          <a:solidFill>
            <a:srgbClr val="0B18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739128" y="1856232"/>
            <a:ext cx="17465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0.41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739128" y="2221992"/>
            <a:ext cx="17465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D4B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SHARPE @ ±2× WINDOW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6739128" y="2386584"/>
            <a:ext cx="174650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8A8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survives 40-day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457200" y="2697480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ROLLING 5YR-IN / 1YR-OUT WALK-FORWARD</a:t>
            </a:r>
            <a:endParaRPr lang="en-US" sz="900" dirty="0"/>
          </a:p>
        </p:txBody>
      </p:sp>
      <p:graphicFrame>
        <p:nvGraphicFramePr>
          <p:cNvPr id="22" name="Chart 0"/>
          <p:cNvGraphicFramePr/>
          <p:nvPr/>
        </p:nvGraphicFramePr>
        <p:xfrm>
          <a:off x="457200" y="2971800"/>
          <a:ext cx="5029200" cy="1691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3" name="Text 20"/>
          <p:cNvSpPr/>
          <p:nvPr/>
        </p:nvSpPr>
        <p:spPr>
          <a:xfrm>
            <a:off x="5760720" y="2697480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LOOKBACK SENSITIVITY  //  SHARPE × MAX DD</a:t>
            </a:r>
            <a:endParaRPr lang="en-US" sz="9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760720" y="2971800"/>
          <a:ext cx="2926080" cy="1371600"/>
        </p:xfrm>
        <a:graphic>
          <a:graphicData uri="http://schemas.openxmlformats.org/drawingml/2006/table">
            <a:tbl>
              <a:tblPr/>
              <a:tblGrid>
                <a:gridCol w="1005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kern="0" spc="200" dirty="0">
                          <a:solidFill>
                            <a:srgbClr val="C9A9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Window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8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kern="0" spc="200" dirty="0">
                          <a:solidFill>
                            <a:srgbClr val="C9A9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Sharpe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8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kern="0" spc="200" dirty="0">
                          <a:solidFill>
                            <a:srgbClr val="C9A9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 DD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8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6B6B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10-day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B85042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0.09</a:t>
                      </a:r>
                      <a:endParaRPr lang="en-US" sz="9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B85042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16.1%</a:t>
                      </a:r>
                      <a:endParaRPr lang="en-US" sz="9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A27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20-day ★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C9A961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0.55</a:t>
                      </a:r>
                      <a:endParaRPr lang="en-US" sz="9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4F7A3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10.8%</a:t>
                      </a:r>
                      <a:endParaRPr lang="en-US" sz="9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6B6B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40-day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A2744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0.41</a:t>
                      </a:r>
                      <a:endParaRPr lang="en-US" sz="9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2744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14.5%</a:t>
                      </a:r>
                      <a:endParaRPr lang="en-US" sz="9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6B6B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60-day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B85042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0.20</a:t>
                      </a:r>
                      <a:endParaRPr lang="en-US" sz="9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B85042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16.2%</a:t>
                      </a:r>
                      <a:endParaRPr lang="en-US" sz="9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5" name="Text 21"/>
          <p:cNvSpPr/>
          <p:nvPr/>
        </p:nvSpPr>
        <p:spPr>
          <a:xfrm>
            <a:off x="5760720" y="43891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In-sample optimum. Edge survives at ±2× window (40-day), degrades at ±3× (60-day) — consistent with a real but locally-tuned signal.</a:t>
            </a:r>
            <a:endParaRPr lang="en-US" sz="800" dirty="0"/>
          </a:p>
        </p:txBody>
      </p:sp>
      <p:sp>
        <p:nvSpPr>
          <p:cNvPr id="26" name="Shape 22"/>
          <p:cNvSpPr/>
          <p:nvPr/>
        </p:nvSpPr>
        <p:spPr>
          <a:xfrm>
            <a:off x="457200" y="4754880"/>
            <a:ext cx="8229600" cy="0"/>
          </a:xfrm>
          <a:prstGeom prst="line">
            <a:avLst/>
          </a:prstGeom>
          <a:noFill/>
          <a:ln w="6350">
            <a:solidFill>
              <a:srgbClr val="D8CF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3"/>
          <p:cNvSpPr/>
          <p:nvPr/>
        </p:nvSpPr>
        <p:spPr>
          <a:xfrm>
            <a:off x="457200" y="4846320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3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BREADTH REVERSAL  //  CONFIDENTIAL — INSTITUTIONAL REVIEW ONLY</a:t>
            </a:r>
            <a:endParaRPr lang="en-US" sz="800" dirty="0"/>
          </a:p>
        </p:txBody>
      </p:sp>
      <p:sp>
        <p:nvSpPr>
          <p:cNvPr id="28" name="Text 24"/>
          <p:cNvSpPr/>
          <p:nvPr/>
        </p:nvSpPr>
        <p:spPr>
          <a:xfrm>
            <a:off x="7589520" y="484632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kern="0" spc="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21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AF5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50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 //  REGIME DEPENDENCE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Calm-Market Diversifier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2C3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full-sample correlation of 0.41 understates — and oversimplifies — the regime picture. Correlation rises during stress, compresses in calm regimes. This is not a crisis-alpha story; it is a regime-dependence story.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828800"/>
            <a:ext cx="5212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252-DAY ROLLING CORRELATION  //  STRATEGY vs ES</a:t>
            </a:r>
            <a:endParaRPr lang="en-US" sz="9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457200" y="2103120"/>
          <a:ext cx="5212080" cy="2514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Text 4"/>
          <p:cNvSpPr/>
          <p:nvPr/>
        </p:nvSpPr>
        <p:spPr>
          <a:xfrm>
            <a:off x="5852160" y="1828800"/>
            <a:ext cx="2834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REGIME SIGNATURE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5852160" y="2148840"/>
            <a:ext cx="2834640" cy="411480"/>
          </a:xfrm>
          <a:prstGeom prst="rect">
            <a:avLst/>
          </a:prstGeom>
          <a:solidFill>
            <a:srgbClr val="0B1838"/>
          </a:solidFill>
          <a:ln w="6350">
            <a:solidFill>
              <a:srgbClr val="E5DC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5852160" y="2148840"/>
            <a:ext cx="36576" cy="411480"/>
          </a:xfrm>
          <a:prstGeom prst="rect">
            <a:avLst/>
          </a:prstGeom>
          <a:solidFill>
            <a:srgbClr val="C9A9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5989320" y="2148840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~0.79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6858000" y="214884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D9CF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Feb 2018 Vol Spike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5852160" y="2651760"/>
            <a:ext cx="2834640" cy="411480"/>
          </a:xfrm>
          <a:prstGeom prst="rect">
            <a:avLst/>
          </a:prstGeom>
          <a:solidFill>
            <a:srgbClr val="0B1838"/>
          </a:solidFill>
          <a:ln w="6350">
            <a:solidFill>
              <a:srgbClr val="E5DC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5852160" y="2651760"/>
            <a:ext cx="36576" cy="411480"/>
          </a:xfrm>
          <a:prstGeom prst="rect">
            <a:avLst/>
          </a:prstGeom>
          <a:solidFill>
            <a:srgbClr val="C9A9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5989320" y="2651760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~0.67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6858000" y="265176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D9CF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COVID Mar–Jun 2020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5852160" y="3154680"/>
            <a:ext cx="2834640" cy="411480"/>
          </a:xfrm>
          <a:prstGeom prst="rect">
            <a:avLst/>
          </a:prstGeom>
          <a:solidFill>
            <a:srgbClr val="0B1838"/>
          </a:solidFill>
          <a:ln w="6350">
            <a:solidFill>
              <a:srgbClr val="E5DC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5852160" y="3154680"/>
            <a:ext cx="36576" cy="411480"/>
          </a:xfrm>
          <a:prstGeom prst="rect">
            <a:avLst/>
          </a:prstGeom>
          <a:solidFill>
            <a:srgbClr val="C9A9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5989320" y="3154680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~0.62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6858000" y="315468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D9CF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 2025 Tariff Shock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5852160" y="3657600"/>
            <a:ext cx="283464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E5DC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8"/>
          <p:cNvSpPr/>
          <p:nvPr/>
        </p:nvSpPr>
        <p:spPr>
          <a:xfrm>
            <a:off x="5852160" y="3657600"/>
            <a:ext cx="36576" cy="411480"/>
          </a:xfrm>
          <a:prstGeom prst="rect">
            <a:avLst/>
          </a:prstGeom>
          <a:solidFill>
            <a:srgbClr val="C9A9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5989320" y="3657600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8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~0.23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6858000" y="365760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2C3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Mid-2021 Calm Period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5852160" y="4251960"/>
            <a:ext cx="2834640" cy="411480"/>
          </a:xfrm>
          <a:prstGeom prst="rect">
            <a:avLst/>
          </a:prstGeom>
          <a:solidFill>
            <a:srgbClr val="F5EED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5943600" y="4270248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i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diversification in calm regimes; compresses in stress when it matters most.</a:t>
            </a:r>
            <a:endParaRPr lang="en-US" sz="800" dirty="0"/>
          </a:p>
        </p:txBody>
      </p:sp>
      <p:sp>
        <p:nvSpPr>
          <p:cNvPr id="26" name="Shape 23"/>
          <p:cNvSpPr/>
          <p:nvPr/>
        </p:nvSpPr>
        <p:spPr>
          <a:xfrm>
            <a:off x="457200" y="4754880"/>
            <a:ext cx="8229600" cy="0"/>
          </a:xfrm>
          <a:prstGeom prst="line">
            <a:avLst/>
          </a:prstGeom>
          <a:noFill/>
          <a:ln w="6350">
            <a:solidFill>
              <a:srgbClr val="D8CF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457200" y="4846320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3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BREADTH REVERSAL  //  CONFIDENTIAL — INSTITUTIONAL REVIEW ONLY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7589520" y="484632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kern="0" spc="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21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AF5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50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 //  BENCHMARK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Strategy vs B&amp;H ES: Three Pillars</a:t>
            </a:r>
            <a:endParaRPr lang="en-US" sz="28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25880"/>
          <a:ext cx="4389120" cy="2468880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kern="0" spc="200" dirty="0">
                          <a:solidFill>
                            <a:srgbClr val="C9A9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8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kern="0" spc="200" dirty="0">
                          <a:solidFill>
                            <a:srgbClr val="C9A9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Strategy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8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kern="0" spc="200" dirty="0">
                          <a:solidFill>
                            <a:srgbClr val="C9A9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B&amp;H 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8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kern="0" spc="200" dirty="0">
                          <a:solidFill>
                            <a:srgbClr val="C9A9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Δ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8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6B6B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Compounded Return (%)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1A2744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126.20</a:t>
                      </a:r>
                      <a:endParaRPr lang="en-US" sz="9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1A2744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552.37</a:t>
                      </a:r>
                      <a:endParaRPr lang="en-US" sz="9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6B6B6B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−426.17</a:t>
                      </a:r>
                      <a:endParaRPr lang="en-US" sz="9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6B6B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CAGR (%)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1A2744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5.22</a:t>
                      </a:r>
                      <a:endParaRPr lang="en-US" sz="9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1A2744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12.39</a:t>
                      </a:r>
                      <a:endParaRPr lang="en-US" sz="9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6B6B6B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−7.17</a:t>
                      </a:r>
                      <a:endParaRPr lang="en-US" sz="9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6B6B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Ann. Volatility (%)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4F7A3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7.20</a:t>
                      </a:r>
                      <a:endParaRPr lang="en-US" sz="9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1A2744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17.39</a:t>
                      </a:r>
                      <a:endParaRPr lang="en-US" sz="9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4F7A3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−10.19</a:t>
                      </a:r>
                      <a:endParaRPr lang="en-US" sz="9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6B6B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True Sharpe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1A2744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0.55</a:t>
                      </a:r>
                      <a:endParaRPr lang="en-US" sz="9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1A2744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0.68</a:t>
                      </a:r>
                      <a:endParaRPr lang="en-US" sz="9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B85042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−0.13</a:t>
                      </a:r>
                      <a:endParaRPr lang="en-US" sz="9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6B6B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Active-Day Sharpe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4F7A3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2.13</a:t>
                      </a:r>
                      <a:endParaRPr lang="en-US" sz="9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6B6B6B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—</a:t>
                      </a:r>
                      <a:endParaRPr lang="en-US" sz="9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6B6B6B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—</a:t>
                      </a:r>
                      <a:endParaRPr lang="en-US" sz="9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6B6B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 Drawdown (%)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4F7A3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10.83</a:t>
                      </a:r>
                      <a:endParaRPr lang="en-US" sz="9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1A2744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34.45</a:t>
                      </a:r>
                      <a:endParaRPr lang="en-US" sz="9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4F7A3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−23.62</a:t>
                      </a:r>
                      <a:endParaRPr lang="en-US" sz="9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6B6B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Market Exposure (%)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1A2744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13.91</a:t>
                      </a:r>
                      <a:endParaRPr lang="en-US" sz="9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1A2744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100.00</a:t>
                      </a:r>
                      <a:endParaRPr lang="en-US" sz="9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6B6B6B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—</a:t>
                      </a:r>
                      <a:endParaRPr lang="en-US" sz="9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6B6B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Daily Correlation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1A2744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0.41</a:t>
                      </a:r>
                      <a:endParaRPr lang="en-US" sz="9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1A2744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1.00</a:t>
                      </a:r>
                      <a:endParaRPr lang="en-US" sz="9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6B6B6B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—</a:t>
                      </a:r>
                      <a:endParaRPr lang="en-US" sz="9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3886200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 is not designed to compete on raw returns. It is a diversifier, not a replacement for directional equity beta.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5029200" y="132588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PROPOSITION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5029200" y="1600200"/>
            <a:ext cx="365760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5DC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5029200" y="1600200"/>
            <a:ext cx="45720" cy="914400"/>
          </a:xfrm>
          <a:prstGeom prst="rect">
            <a:avLst/>
          </a:prstGeom>
          <a:solidFill>
            <a:srgbClr val="C9A9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5166360" y="169164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i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5760720" y="169164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 EFFICIENCY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5760720" y="1947672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2C3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13.9% exposure leaves 86% of NAV free for complementary deployments. Sleeve stacks on other return streams without meaningful leverage.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5029200" y="2624328"/>
            <a:ext cx="365760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5DC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5029200" y="2624328"/>
            <a:ext cx="45720" cy="914400"/>
          </a:xfrm>
          <a:prstGeom prst="rect">
            <a:avLst/>
          </a:prstGeom>
          <a:solidFill>
            <a:srgbClr val="C9A9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5166360" y="271576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i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5760720" y="2715768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DRAWDOWN CONTROL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5760720" y="2971800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2C3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10.83% max DD is ~⅓ of the 34.45% B&amp;H figure. Critical for LPs operating under drawdown-contingent allocation policies.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5029200" y="3648456"/>
            <a:ext cx="365760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5DC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15"/>
          <p:cNvSpPr/>
          <p:nvPr/>
        </p:nvSpPr>
        <p:spPr>
          <a:xfrm>
            <a:off x="5029200" y="3648456"/>
            <a:ext cx="45720" cy="914400"/>
          </a:xfrm>
          <a:prstGeom prst="rect">
            <a:avLst/>
          </a:prstGeom>
          <a:solidFill>
            <a:srgbClr val="C9A9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5166360" y="3739896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i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200" dirty="0"/>
          </a:p>
        </p:txBody>
      </p:sp>
      <p:sp>
        <p:nvSpPr>
          <p:cNvPr id="20" name="Text 17"/>
          <p:cNvSpPr/>
          <p:nvPr/>
        </p:nvSpPr>
        <p:spPr>
          <a:xfrm>
            <a:off x="5760720" y="3739896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REGIME-DEPENDENT DIVERSIFICATION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5760720" y="3995928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2C3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0.41 full-sample correlation. Highest diversification in calm markets — adjust portfolio construction accordingly.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457200" y="4754880"/>
            <a:ext cx="8229600" cy="0"/>
          </a:xfrm>
          <a:prstGeom prst="line">
            <a:avLst/>
          </a:prstGeom>
          <a:noFill/>
          <a:ln w="6350">
            <a:solidFill>
              <a:srgbClr val="D8CF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457200" y="4846320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3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BREADTH REVERSAL  //  CONFIDENTIAL — INSTITUTIONAL REVIEW ONLY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7589520" y="484632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kern="0" spc="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21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AF5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50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 //  RISK FRAMEWORK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Primary Risks &amp; Mitigation Protocol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2C3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backtest captures performance under one historical path. Each risk below has a documented mitigation protocol inside the due-diligence pack.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737360"/>
            <a:ext cx="2697480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E5DC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1737360"/>
            <a:ext cx="36576" cy="1325880"/>
          </a:xfrm>
          <a:prstGeom prst="rect">
            <a:avLst/>
          </a:prstGeom>
          <a:solidFill>
            <a:srgbClr val="C9A9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94360" y="181051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i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51560" y="182880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INFERENCE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94360" y="2176272"/>
            <a:ext cx="2423160" cy="0"/>
          </a:xfrm>
          <a:prstGeom prst="line">
            <a:avLst/>
          </a:prstGeom>
          <a:noFill/>
          <a:ln w="6350">
            <a:solidFill>
              <a:srgbClr val="E5DC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94360" y="2212848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RISK   </a:t>
            </a:r>
            <a:r>
              <a:rPr lang="en-US" sz="800" dirty="0">
                <a:solidFill>
                  <a:srgbClr val="2C3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 t-stats 1.01–1.11. Null of zero alpha cannot be rejected. Bonferroni threshold (p &lt; 0.0083) unmet.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594360" y="265176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4F7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MITIGATE   </a:t>
            </a:r>
            <a:r>
              <a:rPr lang="en-US" sz="800" dirty="0">
                <a:solidFill>
                  <a:srgbClr val="2C3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Sizing uses lower-bound of alpha CI. Rolling 1yr Sharpe de-risk trigger at &lt; 0.5 over 6mo.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3223260" y="1737360"/>
            <a:ext cx="2697480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E5DC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223260" y="1737360"/>
            <a:ext cx="36576" cy="1325880"/>
          </a:xfrm>
          <a:prstGeom prst="rect">
            <a:avLst/>
          </a:prstGeom>
          <a:solidFill>
            <a:srgbClr val="C9A9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360420" y="181051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i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II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817620" y="182880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REGIME DEPENDENCE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360420" y="2176272"/>
            <a:ext cx="2423160" cy="0"/>
          </a:xfrm>
          <a:prstGeom prst="line">
            <a:avLst/>
          </a:prstGeom>
          <a:noFill/>
          <a:ln w="6350">
            <a:solidFill>
              <a:srgbClr val="E5DC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360420" y="2212848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RISK   </a:t>
            </a:r>
            <a:r>
              <a:rPr lang="en-US" sz="800" dirty="0">
                <a:solidFill>
                  <a:srgbClr val="2C3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Reversal strategies degrade in sustained trending markets. Sample window is bull-market-biased.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3360420" y="265176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4F7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MITIGATE   </a:t>
            </a:r>
            <a:r>
              <a:rPr lang="en-US" sz="800" dirty="0">
                <a:solidFill>
                  <a:srgbClr val="2C3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OOS Sharpe monitoring with DD-based sizing. Hard kill-switch at 20% trailing drawdown.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5989320" y="1737360"/>
            <a:ext cx="2697480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E5DC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5989320" y="1737360"/>
            <a:ext cx="36576" cy="1325880"/>
          </a:xfrm>
          <a:prstGeom prst="rect">
            <a:avLst/>
          </a:prstGeom>
          <a:solidFill>
            <a:srgbClr val="C9A9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126480" y="181051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i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III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583680" y="182880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126480" y="2176272"/>
            <a:ext cx="2423160" cy="0"/>
          </a:xfrm>
          <a:prstGeom prst="line">
            <a:avLst/>
          </a:prstGeom>
          <a:noFill/>
          <a:ln w="6350">
            <a:solidFill>
              <a:srgbClr val="E5DC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126480" y="2212848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RISK   </a:t>
            </a:r>
            <a:r>
              <a:rPr lang="en-US" sz="800" dirty="0">
                <a:solidFill>
                  <a:srgbClr val="2C3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 liquidity concentrates in final 10 mins. Crowding compresses edge.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6126480" y="265176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4F7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MITIGATE   </a:t>
            </a:r>
            <a:r>
              <a:rPr lang="en-US" sz="800" dirty="0">
                <a:solidFill>
                  <a:srgbClr val="2C3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$500M AUM cap (base case). TWAP over 20min during MOC imbalance. ES + SPY exec diversification.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457200" y="3154680"/>
            <a:ext cx="2697480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E5DC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457200" y="3154680"/>
            <a:ext cx="36576" cy="1325880"/>
          </a:xfrm>
          <a:prstGeom prst="rect">
            <a:avLst/>
          </a:prstGeom>
          <a:solidFill>
            <a:srgbClr val="C9A9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594360" y="322783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i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IV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051560" y="324612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&amp; OVERFITTING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94360" y="3593592"/>
            <a:ext cx="2423160" cy="0"/>
          </a:xfrm>
          <a:prstGeom prst="line">
            <a:avLst/>
          </a:prstGeom>
          <a:noFill/>
          <a:ln w="6350">
            <a:solidFill>
              <a:srgbClr val="E5DC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594360" y="3630168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RISK   </a:t>
            </a:r>
            <a:r>
              <a:rPr lang="en-US" sz="800" dirty="0">
                <a:solidFill>
                  <a:srgbClr val="2C3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parameters selected with data in hand. 2023 &amp; 2025 OOS years were weak (−9.7%, −2.5% CAGR).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594360" y="406908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4F7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MITIGATE   </a:t>
            </a:r>
            <a:r>
              <a:rPr lang="en-US" sz="800" dirty="0">
                <a:solidFill>
                  <a:srgbClr val="2C3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Walk-forward re-estimation on rolling 5yr windows. Parameter sensitivity disclosed to LPs.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3223260" y="3154680"/>
            <a:ext cx="2697480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E5DC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3223260" y="3154680"/>
            <a:ext cx="36576" cy="1325880"/>
          </a:xfrm>
          <a:prstGeom prst="rect">
            <a:avLst/>
          </a:prstGeom>
          <a:solidFill>
            <a:srgbClr val="C9A9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3360420" y="322783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i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3817620" y="324612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MICROSTRUCTURE EVOLUTION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3360420" y="3593592"/>
            <a:ext cx="2423160" cy="0"/>
          </a:xfrm>
          <a:prstGeom prst="line">
            <a:avLst/>
          </a:prstGeom>
          <a:noFill/>
          <a:ln w="6350">
            <a:solidFill>
              <a:srgbClr val="E5DC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3360420" y="3630168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RISK   </a:t>
            </a:r>
            <a:r>
              <a:rPr lang="en-US" sz="800" dirty="0">
                <a:solidFill>
                  <a:srgbClr val="2C3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 shops, 0DTE options, retail flow, passive growth reshape intraday dynamics.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3360420" y="406908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4F7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MITIGATE   </a:t>
            </a:r>
            <a:r>
              <a:rPr lang="en-US" sz="800" dirty="0">
                <a:solidFill>
                  <a:srgbClr val="2C3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Realised-vol term structure + intraday flow overlay. 2yr Sharpe decay → cut allocation.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5989320" y="3154680"/>
            <a:ext cx="2697480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E5DC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5989320" y="3154680"/>
            <a:ext cx="36576" cy="1325880"/>
          </a:xfrm>
          <a:prstGeom prst="rect">
            <a:avLst/>
          </a:prstGeom>
          <a:solidFill>
            <a:srgbClr val="C9A9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6126480" y="322783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i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</a:t>
            </a:r>
            <a:endParaRPr lang="en-US" sz="1800" dirty="0"/>
          </a:p>
        </p:txBody>
      </p:sp>
      <p:sp>
        <p:nvSpPr>
          <p:cNvPr id="43" name="Text 41"/>
          <p:cNvSpPr/>
          <p:nvPr/>
        </p:nvSpPr>
        <p:spPr>
          <a:xfrm>
            <a:off x="6583680" y="324612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 RISK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6126480" y="3593592"/>
            <a:ext cx="2423160" cy="0"/>
          </a:xfrm>
          <a:prstGeom prst="line">
            <a:avLst/>
          </a:prstGeom>
          <a:noFill/>
          <a:ln w="6350">
            <a:solidFill>
              <a:srgbClr val="E5DC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6126480" y="3630168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RISK   </a:t>
            </a:r>
            <a:r>
              <a:rPr lang="en-US" sz="800" dirty="0">
                <a:solidFill>
                  <a:srgbClr val="2C3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Black-Monday-type crash could exceed 99% historical VaR of 3.52%. 2020 COVID -12% in-sample; 20% not.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6126480" y="406908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4F7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MITIGATE   </a:t>
            </a:r>
            <a:r>
              <a:rPr lang="en-US" sz="800" dirty="0">
                <a:solidFill>
                  <a:srgbClr val="2C3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10-delta 1mo put protection (~15 bps/yr of NAV). Hard 8% NAV cap per signal day.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457200" y="4754880"/>
            <a:ext cx="8229600" cy="0"/>
          </a:xfrm>
          <a:prstGeom prst="line">
            <a:avLst/>
          </a:prstGeom>
          <a:noFill/>
          <a:ln w="6350">
            <a:solidFill>
              <a:srgbClr val="D8CF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457200" y="4846320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3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BREADTH REVERSAL  //  CONFIDENTIAL — INSTITUTIONAL REVIEW ONLY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7589520" y="484632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kern="0" spc="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21</a:t>
            </a:r>
            <a:endParaRPr lang="en-US" sz="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B18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320040"/>
            <a:ext cx="36576" cy="4526280"/>
          </a:xfrm>
          <a:prstGeom prst="rect">
            <a:avLst/>
          </a:prstGeom>
          <a:solidFill>
            <a:srgbClr val="C9A9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3200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50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 //  CONCLUSION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858000" y="3200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kern="0" spc="500" dirty="0">
                <a:solidFill>
                  <a:srgbClr val="8A8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40080" y="8229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Investment Case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640080" y="13258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 one sentence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40080" y="1874520"/>
            <a:ext cx="45720" cy="1280160"/>
          </a:xfrm>
          <a:prstGeom prst="rect">
            <a:avLst/>
          </a:prstGeom>
          <a:solidFill>
            <a:srgbClr val="C9A9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22960" y="1874520"/>
            <a:ext cx="7680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rgbClr val="D9CFB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"A diversifying, capital-efficient sleeve inside a multi-strategy book. Sized such that 4.39% active-day CVaR maps to acceptable portfolio VaR contribution. Positive but statistically inconclusive alpha; strong conditional deployment economics; regime-dependent correlation. Not a replacement for long equity beta — a complement."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34290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70.7%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640080" y="386791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400" dirty="0">
                <a:solidFill>
                  <a:srgbClr val="8A8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 RATE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2651760" y="34290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2.13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2651760" y="386791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400" dirty="0">
                <a:solidFill>
                  <a:srgbClr val="8A8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SHARPE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663440" y="34290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0.55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4663440" y="386791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400" dirty="0">
                <a:solidFill>
                  <a:srgbClr val="8A8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SHARPE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675120" y="34290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10.83%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6675120" y="386791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400" dirty="0">
                <a:solidFill>
                  <a:srgbClr val="8A8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DRAWDOWN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640080" y="4343400"/>
            <a:ext cx="8046720" cy="0"/>
          </a:xfrm>
          <a:prstGeom prst="line">
            <a:avLst/>
          </a:prstGeom>
          <a:noFill/>
          <a:ln w="6350">
            <a:solidFill>
              <a:srgbClr val="C9A9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40080" y="443484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40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640080" y="46634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Bosco Fung  ·  Lo Nga Yin Jenny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40080" y="4864608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8A8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HKU  //  FINA 3327  //  Spring 2026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5486400" y="466344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i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486400" y="486460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kern="0" spc="200" dirty="0">
                <a:solidFill>
                  <a:srgbClr val="8A8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/ 21</a:t>
            </a:r>
            <a:endParaRPr lang="en-US" sz="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AF5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Header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50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 //  TRACK RECORD</a:t>
            </a:r>
            <a:endParaRPr lang="en-US" sz="1000" dirty="0"/>
          </a:p>
        </p:txBody>
      </p:sp>
      <p:sp>
        <p:nvSpPr>
          <p:cNvPr id="3" name="Title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Monthly Returns — The 16-Year Grid</a:t>
            </a:r>
            <a:endParaRPr lang="en-US" sz="2800" dirty="0"/>
          </a:p>
        </p:txBody>
      </p:sp>
      <p:sp>
        <p:nvSpPr>
          <p:cNvPr id="4" name="Subtitle"/>
          <p:cNvSpPr/>
          <p:nvPr/>
        </p:nvSpPr>
        <p:spPr>
          <a:xfrm>
            <a:off x="457200" y="1225296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2C3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Strategy-level return by calendar month. Green cells profitable; red cells loss; white neutral. 193 months of data.</a:t>
            </a:r>
            <a:endParaRPr lang="en-US" sz="1100" dirty="0"/>
          </a:p>
        </p:txBody>
      </p:sp>
      <p:pic>
        <p:nvPicPr>
          <p:cNvPr id="5" name="Monthly Heatmap"/>
          <p:cNvPicPr>
            <a:picLocks noChangeAspect="1" noChangeArrowheads="1"/>
          </p:cNvPicPr>
          <p:nvPr/>
        </p:nvPicPr>
        <p:blipFill rotWithShape="1">
          <a:blip r:embed="rId3"/>
          <a:srcRect/>
          <a:stretch>
            <a:fillRect/>
          </a:stretch>
        </p:blipFill>
        <p:spPr bwMode="auto">
          <a:xfrm>
            <a:off x="457200" y="1554480"/>
            <a:ext cx="5943600" cy="3188970"/>
          </a:xfrm>
          <a:prstGeom prst="rect">
            <a:avLst/>
          </a:prstGeom>
          <a:noFill/>
        </p:spPr>
      </p:pic>
      <p:sp>
        <p:nvSpPr>
          <p:cNvPr id="6" name="Insight Header"/>
          <p:cNvSpPr/>
          <p:nvPr/>
        </p:nvSpPr>
        <p:spPr>
          <a:xfrm>
            <a:off x="6583680" y="155448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READ</a:t>
            </a:r>
            <a:endParaRPr lang="en-US" sz="900" dirty="0"/>
          </a:p>
        </p:txBody>
      </p:sp>
      <p:sp>
        <p:nvSpPr>
          <p:cNvPr id="7" name="Insight Body 1"/>
          <p:cNvSpPr/>
          <p:nvPr/>
        </p:nvSpPr>
        <p:spPr>
          <a:xfrm>
            <a:off x="6583680" y="182880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2C3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cells cluster near zero (white/pale) — the strategy is inactive or flat in most months. Colour intensity concentrates in post-shock periods.</a:t>
            </a:r>
            <a:endParaRPr lang="en-US" sz="1000" dirty="0"/>
          </a:p>
        </p:txBody>
      </p:sp>
      <p:sp>
        <p:nvSpPr>
          <p:cNvPr id="8" name="Divider 1"/>
          <p:cNvSpPr/>
          <p:nvPr/>
        </p:nvSpPr>
        <p:spPr>
          <a:xfrm>
            <a:off x="6583680" y="2560320"/>
            <a:ext cx="2103120" cy="0"/>
          </a:xfrm>
          <a:prstGeom prst="line">
            <a:avLst/>
          </a:prstGeom>
          <a:noFill/>
          <a:ln w="6350">
            <a:solidFill>
              <a:srgbClr val="D8CF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Insight Header 2"/>
          <p:cNvSpPr/>
          <p:nvPr/>
        </p:nvSpPr>
        <p:spPr>
          <a:xfrm>
            <a:off x="6583680" y="265176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GREENS CLUSTER</a:t>
            </a:r>
            <a:endParaRPr lang="en-US" sz="900" dirty="0"/>
          </a:p>
        </p:txBody>
      </p:sp>
      <p:sp>
        <p:nvSpPr>
          <p:cNvPr id="10" name="Insight Body 2"/>
          <p:cNvSpPr/>
          <p:nvPr/>
        </p:nvSpPr>
        <p:spPr>
          <a:xfrm>
            <a:off x="6583680" y="292608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2C3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 2010 (+5.7%), Sep 2011 (+6.5%), May 2020 (+4.3%), Apr 2025 (+7.4%) — all post-shock rebound months where breadth capitulation fires the signal repeatedly.</a:t>
            </a:r>
            <a:endParaRPr lang="en-US" sz="1000" dirty="0"/>
          </a:p>
        </p:txBody>
      </p:sp>
      <p:sp>
        <p:nvSpPr>
          <p:cNvPr id="11" name="Divider 2"/>
          <p:cNvSpPr/>
          <p:nvPr/>
        </p:nvSpPr>
        <p:spPr>
          <a:xfrm>
            <a:off x="6583680" y="3840480"/>
            <a:ext cx="2103120" cy="0"/>
          </a:xfrm>
          <a:prstGeom prst="line">
            <a:avLst/>
          </a:prstGeom>
          <a:noFill/>
          <a:ln w="6350">
            <a:solidFill>
              <a:srgbClr val="D8CF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Insight Header 3"/>
          <p:cNvSpPr/>
          <p:nvPr/>
        </p:nvSpPr>
        <p:spPr>
          <a:xfrm>
            <a:off x="6583680" y="393192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REDS ARE THE SCARS</a:t>
            </a:r>
            <a:endParaRPr lang="en-US" sz="900" dirty="0"/>
          </a:p>
        </p:txBody>
      </p:sp>
      <p:sp>
        <p:nvSpPr>
          <p:cNvPr id="13" name="Insight Body 3"/>
          <p:cNvSpPr/>
          <p:nvPr/>
        </p:nvSpPr>
        <p:spPr>
          <a:xfrm>
            <a:off x="6583680" y="420624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2C3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Feb 2018 (−7.2%), Jun 2022 (−5.7%), Dec 2024 (−4.9%): volatility events where the first long attempt is stopped out before the rebound.</a:t>
            </a:r>
            <a:endParaRPr lang="en-US" sz="1000" dirty="0"/>
          </a:p>
        </p:txBody>
      </p:sp>
      <p:sp>
        <p:nvSpPr>
          <p:cNvPr id="14" name="Footer Divider"/>
          <p:cNvSpPr/>
          <p:nvPr/>
        </p:nvSpPr>
        <p:spPr>
          <a:xfrm>
            <a:off x="457200" y="4754880"/>
            <a:ext cx="8229600" cy="0"/>
          </a:xfrm>
          <a:prstGeom prst="line">
            <a:avLst/>
          </a:prstGeom>
          <a:noFill/>
          <a:ln w="6350">
            <a:solidFill>
              <a:srgbClr val="D8CF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Footer Left"/>
          <p:cNvSpPr/>
          <p:nvPr/>
        </p:nvSpPr>
        <p:spPr>
          <a:xfrm>
            <a:off x="457200" y="4846320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3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BREADTH REVERSAL  //  CONFIDENTIAL — INSTITUTIONAL REVIEW ONLY</a:t>
            </a:r>
            <a:endParaRPr lang="en-US" sz="800" dirty="0"/>
          </a:p>
        </p:txBody>
      </p:sp>
      <p:sp>
        <p:nvSpPr>
          <p:cNvPr id="16" name="Footer Right"/>
          <p:cNvSpPr/>
          <p:nvPr/>
        </p:nvSpPr>
        <p:spPr>
          <a:xfrm>
            <a:off x="7589520" y="484632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kern="0" spc="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21</a:t>
            </a:r>
            <a:endParaRPr lang="en-US" sz="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AF5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Header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50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 //  ALPHA BY FREQUENCY</a:t>
            </a:r>
            <a:endParaRPr lang="en-US" sz="1000" dirty="0"/>
          </a:p>
        </p:txBody>
      </p:sp>
      <p:sp>
        <p:nvSpPr>
          <p:cNvPr id="3" name="Title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Alpha Across Horizons</a:t>
            </a:r>
            <a:endParaRPr lang="en-US" sz="2800" dirty="0"/>
          </a:p>
        </p:txBody>
      </p:sp>
      <p:sp>
        <p:nvSpPr>
          <p:cNvPr id="4" name="Subtitle"/>
          <p:cNvSpPr/>
          <p:nvPr/>
        </p:nvSpPr>
        <p:spPr>
          <a:xfrm>
            <a:off x="457200" y="1225296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2C3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CAPM &amp; FF3 re-estimated at daily, monthly, and yearly frequencies with HAC SEs. Alpha is directionally consistent across horizons.</a:t>
            </a:r>
            <a:endParaRPr lang="en-US" sz="1100" dirty="0"/>
          </a:p>
        </p:txBody>
      </p:sp>
      <p:sp>
        <p:nvSpPr>
          <p:cNvPr id="5" name="Table BG"/>
          <p:cNvSpPr/>
          <p:nvPr/>
        </p:nvSpPr>
        <p:spPr>
          <a:xfrm>
            <a:off x="457200" y="1645920"/>
            <a:ext cx="5029200" cy="2377440"/>
          </a:xfrm>
          <a:prstGeom prst="rect">
            <a:avLst/>
          </a:prstGeom>
          <a:solidFill>
            <a:srgbClr val="FFFFFF"/>
          </a:solidFill>
          <a:ln w="6350">
            <a:solidFill>
              <a:srgbClr val="E5DC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able Header Bar"/>
          <p:cNvSpPr/>
          <p:nvPr/>
        </p:nvSpPr>
        <p:spPr>
          <a:xfrm>
            <a:off x="457200" y="1645920"/>
            <a:ext cx="5029200" cy="365760"/>
          </a:xfrm>
          <a:prstGeom prst="rect">
            <a:avLst/>
          </a:prstGeom>
          <a:solidFill>
            <a:srgbClr val="0B18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H Freq"/>
          <p:cNvSpPr/>
          <p:nvPr/>
        </p:nvSpPr>
        <p:spPr>
          <a:xfrm>
            <a:off x="548640" y="164592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20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FREQUENCY</a:t>
            </a:r>
            <a:endParaRPr lang="en-US" sz="900" dirty="0"/>
          </a:p>
        </p:txBody>
      </p:sp>
      <p:sp>
        <p:nvSpPr>
          <p:cNvPr id="8" name="H Model"/>
          <p:cNvSpPr/>
          <p:nvPr/>
        </p:nvSpPr>
        <p:spPr>
          <a:xfrm>
            <a:off x="1737360" y="1645920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900" dirty="0"/>
          </a:p>
        </p:txBody>
      </p:sp>
      <p:sp>
        <p:nvSpPr>
          <p:cNvPr id="9" name="H Alpha"/>
          <p:cNvSpPr/>
          <p:nvPr/>
        </p:nvSpPr>
        <p:spPr>
          <a:xfrm>
            <a:off x="2423160" y="16459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 (ANN. %)</a:t>
            </a:r>
            <a:endParaRPr lang="en-US" sz="900" dirty="0"/>
          </a:p>
        </p:txBody>
      </p:sp>
      <p:sp>
        <p:nvSpPr>
          <p:cNvPr id="10" name="H t"/>
          <p:cNvSpPr/>
          <p:nvPr/>
        </p:nvSpPr>
        <p:spPr>
          <a:xfrm>
            <a:off x="3337560" y="164592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 t</a:t>
            </a:r>
            <a:endParaRPr lang="en-US" sz="900" dirty="0"/>
          </a:p>
        </p:txBody>
      </p:sp>
      <p:sp>
        <p:nvSpPr>
          <p:cNvPr id="11" name="H p"/>
          <p:cNvSpPr/>
          <p:nvPr/>
        </p:nvSpPr>
        <p:spPr>
          <a:xfrm>
            <a:off x="3977640" y="164592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 p</a:t>
            </a:r>
            <a:endParaRPr lang="en-US" sz="900" dirty="0"/>
          </a:p>
        </p:txBody>
      </p:sp>
      <p:sp>
        <p:nvSpPr>
          <p:cNvPr id="13" name="Row1 Highlight"/>
          <p:cNvSpPr/>
          <p:nvPr/>
        </p:nvSpPr>
        <p:spPr>
          <a:xfrm>
            <a:off x="457200" y="2697480"/>
            <a:ext cx="5029200" cy="335280"/>
          </a:xfrm>
          <a:prstGeom prst="rect">
            <a:avLst/>
          </a:prstGeom>
          <a:solidFill>
            <a:srgbClr val="FDF5E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able Data"/>
          <p:cNvSpPr/>
          <p:nvPr/>
        </p:nvSpPr>
        <p:spPr>
          <a:xfrm>
            <a:off x="457200" y="2042160"/>
            <a:ext cx="5029200" cy="1981200"/>
          </a:xfrm>
          <a:prstGeom prst="rect">
            <a:avLst/>
          </a:prstGeom>
          <a:noFill/>
          <a:ln/>
        </p:spPr>
        <p:txBody>
          <a:bodyPr wrap="square" lIns="91440" tIns="0" rIns="91440" bIns="0" rtlCol="0" anchor="t"/>
          <a:lstStyle/>
          <a:p>
            <a:pPr marL="0" indent="0" algn="l">
              <a:lnSpc>
                <a:spcPct val="160000"/>
              </a:lnSpc>
              <a:tabLst>
                <a:tab pos="1280160" algn="l"/>
                <a:tab pos="1965960" algn="r"/>
                <a:tab pos="2880360" algn="r"/>
                <a:tab pos="3520440" algn="r"/>
                <a:tab pos="4160520" algn="r"/>
              </a:tabLst>
              <a:buNone/>
            </a:pPr>
            <a:r>
              <a:rPr lang="en-US" sz="1000" b="1" kern="0" dirty="0">
                <a:solidFill>
                  <a:srgbClr val="1A2744"/>
                </a:solidFill>
                <a:latin typeface="Calibri" pitchFamily="34" charset="0"/>
              </a:rPr>
              <a:t>Daily</a:t>
            </a:r>
            <a:r>
              <a:rPr lang="en-US" sz="1000" kern="0" dirty="0">
                <a:solidFill>
                  <a:srgbClr val="2C3A5A"/>
                </a:solidFill>
                <a:latin typeface="Calibri" pitchFamily="34" charset="0"/>
              </a:rPr>
              <a:t xml:space="preserve">	CAPM	1.75	1.11	0.265</a:t>
            </a:r>
          </a:p>
          <a:p>
            <a:pPr marL="0" indent="0" algn="l">
              <a:lnSpc>
                <a:spcPct val="160000"/>
              </a:lnSpc>
              <a:tabLst>
                <a:tab pos="1280160" algn="l"/>
                <a:tab pos="1965960" algn="r"/>
                <a:tab pos="2880360" algn="r"/>
                <a:tab pos="3520440" algn="r"/>
                <a:tab pos="4160520" algn="r"/>
              </a:tabLst>
              <a:buNone/>
            </a:pPr>
            <a:r>
              <a:rPr lang="en-US" sz="1000" b="1" kern="0" dirty="0">
                <a:solidFill>
                  <a:srgbClr val="1A2744"/>
                </a:solidFill>
                <a:latin typeface="Calibri" pitchFamily="34" charset="0"/>
              </a:rPr>
              <a:t>Daily</a:t>
            </a:r>
            <a:r>
              <a:rPr lang="en-US" sz="1000" kern="0" dirty="0">
                <a:solidFill>
                  <a:srgbClr val="2C3A5A"/>
                </a:solidFill>
                <a:latin typeface="Calibri" pitchFamily="34" charset="0"/>
              </a:rPr>
              <a:t xml:space="preserve">	FF3	1.59	1.01	0.315</a:t>
            </a:r>
          </a:p>
          <a:p>
            <a:pPr marL="0" indent="0" algn="l">
              <a:lnSpc>
                <a:spcPct val="160000"/>
              </a:lnSpc>
              <a:tabLst>
                <a:tab pos="1280160" algn="l"/>
                <a:tab pos="1965960" algn="r"/>
                <a:tab pos="2880360" algn="r"/>
                <a:tab pos="3520440" algn="r"/>
                <a:tab pos="4160520" algn="r"/>
              </a:tabLst>
              <a:buNone/>
            </a:pPr>
            <a:r>
              <a:rPr lang="en-US" sz="1000" b="1" kern="0" dirty="0">
                <a:solidFill>
                  <a:srgbClr val="4F7A3A"/>
                </a:solidFill>
                <a:latin typeface="Calibri" pitchFamily="34" charset="0"/>
              </a:rPr>
              <a:t>Monthly ★</a:t>
            </a:r>
            <a:r>
              <a:rPr lang="en-US" sz="1000" b="1" kern="0" dirty="0">
                <a:solidFill>
                  <a:srgbClr val="4F7A3A"/>
                </a:solidFill>
                <a:latin typeface="Calibri" pitchFamily="34" charset="0"/>
              </a:rPr>
              <a:t xml:space="preserve">	CAPM	2.72	1.67	0.094</a:t>
            </a:r>
          </a:p>
          <a:p>
            <a:pPr marL="0" indent="0" algn="l">
              <a:lnSpc>
                <a:spcPct val="160000"/>
              </a:lnSpc>
              <a:tabLst>
                <a:tab pos="1280160" algn="l"/>
                <a:tab pos="1965960" algn="r"/>
                <a:tab pos="2880360" algn="r"/>
                <a:tab pos="3520440" algn="r"/>
                <a:tab pos="4160520" algn="r"/>
              </a:tabLst>
              <a:buNone/>
            </a:pPr>
            <a:r>
              <a:rPr lang="en-US" sz="1000" b="1" kern="0" dirty="0">
                <a:solidFill>
                  <a:srgbClr val="1A2744"/>
                </a:solidFill>
                <a:latin typeface="Calibri" pitchFamily="34" charset="0"/>
              </a:rPr>
              <a:t>Monthly</a:t>
            </a:r>
            <a:r>
              <a:rPr lang="en-US" sz="1000" kern="0" dirty="0">
                <a:solidFill>
                  <a:srgbClr val="2C3A5A"/>
                </a:solidFill>
                <a:latin typeface="Calibri" pitchFamily="34" charset="0"/>
              </a:rPr>
              <a:t xml:space="preserve">	FF3	2.24	1.38	0.168</a:t>
            </a:r>
          </a:p>
          <a:p>
            <a:pPr marL="0" indent="0" algn="l">
              <a:lnSpc>
                <a:spcPct val="160000"/>
              </a:lnSpc>
              <a:tabLst>
                <a:tab pos="1280160" algn="l"/>
                <a:tab pos="1965960" algn="r"/>
                <a:tab pos="2880360" algn="r"/>
                <a:tab pos="3520440" algn="r"/>
                <a:tab pos="4160520" algn="r"/>
              </a:tabLst>
              <a:buNone/>
            </a:pPr>
            <a:r>
              <a:rPr lang="en-US" sz="1000" b="1" kern="0" dirty="0">
                <a:solidFill>
                  <a:srgbClr val="1A2744"/>
                </a:solidFill>
                <a:latin typeface="Calibri" pitchFamily="34" charset="0"/>
              </a:rPr>
              <a:t>Yearly</a:t>
            </a:r>
            <a:r>
              <a:rPr lang="en-US" sz="1000" kern="0" dirty="0">
                <a:solidFill>
                  <a:srgbClr val="2C3A5A"/>
                </a:solidFill>
                <a:latin typeface="Calibri" pitchFamily="34" charset="0"/>
              </a:rPr>
              <a:t xml:space="preserve">	CAPM	0.78	0.63	0.532</a:t>
            </a:r>
          </a:p>
          <a:p>
            <a:pPr marL="0" indent="0" algn="l">
              <a:lnSpc>
                <a:spcPct val="160000"/>
              </a:lnSpc>
              <a:tabLst>
                <a:tab pos="1280160" algn="l"/>
                <a:tab pos="1965960" algn="r"/>
                <a:tab pos="2880360" algn="r"/>
                <a:tab pos="3520440" algn="r"/>
                <a:tab pos="4160520" algn="r"/>
              </a:tabLst>
              <a:buNone/>
            </a:pPr>
            <a:r>
              <a:rPr lang="en-US" sz="1000" b="1" kern="0" dirty="0">
                <a:solidFill>
                  <a:srgbClr val="1A2744"/>
                </a:solidFill>
                <a:latin typeface="Calibri" pitchFamily="34" charset="0"/>
              </a:rPr>
              <a:t>Yearly</a:t>
            </a:r>
            <a:r>
              <a:rPr lang="en-US" sz="1000" kern="0" dirty="0">
                <a:solidFill>
                  <a:srgbClr val="2C3A5A"/>
                </a:solidFill>
                <a:latin typeface="Calibri" pitchFamily="34" charset="0"/>
              </a:rPr>
              <a:t xml:space="preserve">	FF3	1.47	1.03	0.302</a:t>
            </a:r>
          </a:p>
        </p:txBody>
      </p:sp>
      <p:sp>
        <p:nvSpPr>
          <p:cNvPr id="15" name="Table Caption"/>
          <p:cNvSpPr/>
          <p:nvPr/>
        </p:nvSpPr>
        <p:spPr>
          <a:xfrm>
            <a:off x="457200" y="4069080"/>
            <a:ext cx="5029200" cy="182880"/>
          </a:xfrm>
          <a:prstGeom prst="rect">
            <a:avLst/>
          </a:prstGeom>
          <a:noFill/>
          <a:ln/>
        </p:spPr>
        <p:txBody>
          <a:bodyPr wrap="square" lIns="91440" tIns="0" rIns="91440" bIns="0" rtlCol="0" anchor="ctr"/>
          <a:lstStyle/>
          <a:p>
            <a:pPr marL="0" indent="0" algn="l">
              <a:buNone/>
            </a:pPr>
            <a:r>
              <a:rPr lang="en-US" sz="800" i="1" dirty="0">
                <a:solidFill>
                  <a:srgbClr val="6B6B6B"/>
                </a:solidFill>
                <a:latin typeface="Calibri" pitchFamily="34" charset="0"/>
              </a:rPr>
              <a:t>★ Strongest spec. Only Monthly CAPM clears 10% (p = 0.094). N = 4,038 / 193 / 17.</a:t>
            </a:r>
            <a:endParaRPr lang="en-US" sz="800" dirty="0"/>
          </a:p>
        </p:txBody>
      </p:sp>
      <p:sp>
        <p:nvSpPr>
          <p:cNvPr id="16" name="Insight 1 Header"/>
          <p:cNvSpPr/>
          <p:nvPr/>
        </p:nvSpPr>
        <p:spPr>
          <a:xfrm>
            <a:off x="5669280" y="164592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CROSS-FREQUENCY READ</a:t>
            </a:r>
            <a:endParaRPr lang="en-US" sz="900" dirty="0"/>
          </a:p>
        </p:txBody>
      </p:sp>
      <p:sp>
        <p:nvSpPr>
          <p:cNvPr id="17" name="Insight 1 Stat"/>
          <p:cNvSpPr/>
          <p:nvPr/>
        </p:nvSpPr>
        <p:spPr>
          <a:xfrm>
            <a:off x="5669280" y="19202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4F7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+2.72% ann.</a:t>
            </a:r>
            <a:endParaRPr lang="en-US" sz="2400" dirty="0"/>
          </a:p>
        </p:txBody>
      </p:sp>
      <p:sp>
        <p:nvSpPr>
          <p:cNvPr id="18" name="Insight 1 Body"/>
          <p:cNvSpPr/>
          <p:nvPr/>
        </p:nvSpPr>
        <p:spPr>
          <a:xfrm>
            <a:off x="5669280" y="23774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2C3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CAPM alpha is the strongest specification — t = 1.67, p = 0.094 — the only one clearing the 10% threshold under HAC.</a:t>
            </a:r>
            <a:endParaRPr lang="en-US" sz="1000" dirty="0"/>
          </a:p>
        </p:txBody>
      </p:sp>
      <p:sp>
        <p:nvSpPr>
          <p:cNvPr id="19" name="Insight 2 Divider"/>
          <p:cNvSpPr/>
          <p:nvPr/>
        </p:nvSpPr>
        <p:spPr>
          <a:xfrm>
            <a:off x="5669280" y="2926080"/>
            <a:ext cx="3017520" cy="0"/>
          </a:xfrm>
          <a:prstGeom prst="line">
            <a:avLst/>
          </a:prstGeom>
          <a:noFill/>
          <a:ln w="6350">
            <a:solidFill>
              <a:srgbClr val="D8CF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Insight 2 Header"/>
          <p:cNvSpPr/>
          <p:nvPr/>
        </p:nvSpPr>
        <p:spPr>
          <a:xfrm>
            <a:off x="5669280" y="301752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BONFERRONI THRESHOLD</a:t>
            </a:r>
            <a:endParaRPr lang="en-US" sz="900" dirty="0"/>
          </a:p>
        </p:txBody>
      </p:sp>
      <p:sp>
        <p:nvSpPr>
          <p:cNvPr id="21" name="Insight 2 Stat"/>
          <p:cNvSpPr/>
          <p:nvPr/>
        </p:nvSpPr>
        <p:spPr>
          <a:xfrm>
            <a:off x="5669280" y="32918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 &lt; 0.0083</a:t>
            </a:r>
            <a:endParaRPr lang="en-US" sz="2400" dirty="0"/>
          </a:p>
        </p:txBody>
      </p:sp>
      <p:sp>
        <p:nvSpPr>
          <p:cNvPr id="22" name="Insight 2 Body"/>
          <p:cNvSpPr/>
          <p:nvPr/>
        </p:nvSpPr>
        <p:spPr>
          <a:xfrm>
            <a:off x="5669280" y="374904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2C3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strict Bonferroni across 6 tests, no specification clears 5%. Alpha is economically consistent across horizons, but statistically inconclusive by this standard.</a:t>
            </a:r>
            <a:endParaRPr lang="en-US" sz="1000" dirty="0"/>
          </a:p>
        </p:txBody>
      </p:sp>
      <p:sp>
        <p:nvSpPr>
          <p:cNvPr id="23" name="Bottom Callout"/>
          <p:cNvSpPr/>
          <p:nvPr/>
        </p:nvSpPr>
        <p:spPr>
          <a:xfrm>
            <a:off x="457200" y="434340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 is positive at every horizon — direction is robust; magnitude is not.</a:t>
            </a:r>
            <a:endParaRPr lang="en-US" sz="1100" dirty="0"/>
          </a:p>
        </p:txBody>
      </p:sp>
      <p:sp>
        <p:nvSpPr>
          <p:cNvPr id="24" name="Footer Divider"/>
          <p:cNvSpPr/>
          <p:nvPr/>
        </p:nvSpPr>
        <p:spPr>
          <a:xfrm>
            <a:off x="457200" y="4754880"/>
            <a:ext cx="8229600" cy="0"/>
          </a:xfrm>
          <a:prstGeom prst="line">
            <a:avLst/>
          </a:prstGeom>
          <a:noFill/>
          <a:ln w="6350">
            <a:solidFill>
              <a:srgbClr val="D8CF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Footer Left"/>
          <p:cNvSpPr/>
          <p:nvPr/>
        </p:nvSpPr>
        <p:spPr>
          <a:xfrm>
            <a:off x="457200" y="4846320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3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BREADTH REVERSAL  //  CONFIDENTIAL — INSTITUTIONAL REVIEW ONLY</a:t>
            </a:r>
            <a:endParaRPr lang="en-US" sz="800" dirty="0"/>
          </a:p>
        </p:txBody>
      </p:sp>
      <p:sp>
        <p:nvSpPr>
          <p:cNvPr id="26" name="Footer Right"/>
          <p:cNvSpPr/>
          <p:nvPr/>
        </p:nvSpPr>
        <p:spPr>
          <a:xfrm>
            <a:off x="7589520" y="484632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kern="0" spc="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21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2839</Words>
  <Application>Microsoft Macintosh PowerPoint</Application>
  <PresentationFormat>On-screen Show (16:9)</PresentationFormat>
  <Paragraphs>519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Breadth Reversal Strategy - Pitch Deck</dc:title>
  <dc:subject>PptxGenJS Presentation</dc:subject>
  <dc:creator>Bosco Fung &amp; Lo Nga Yin Jenny</dc:creator>
  <cp:lastModifiedBy>bfung777@connect.hku.hk</cp:lastModifiedBy>
  <cp:revision>4</cp:revision>
  <dcterms:created xsi:type="dcterms:W3CDTF">2026-04-21T09:45:04Z</dcterms:created>
  <dcterms:modified xsi:type="dcterms:W3CDTF">2026-04-21T10:04:36Z</dcterms:modified>
</cp:coreProperties>
</file>